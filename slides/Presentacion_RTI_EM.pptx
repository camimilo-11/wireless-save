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aede7e1c404512" /><Relationship Type="http://schemas.openxmlformats.org/officeDocument/2006/relationships/extended-properties" Target="/docProps/app.xml" Id="R0a34fb2a144644b3" /><Relationship Type="http://schemas.openxmlformats.org/officeDocument/2006/relationships/officeDocument" Target="/ppt/presentation.xml" Id="Rea026caee9ce4069" /></Relationships>
</file>

<file path=ppt/presentation.xml><?xml version="1.0" encoding="utf-8"?>
<p:presentation xmlns:p="http://schemas.openxmlformats.org/presentationml/2006/main">
  <p:sldMasterIdLst>
    <p:sldMasterId xmlns:r="http://schemas.openxmlformats.org/officeDocument/2006/relationships" id="2147483648" r:id="R2d80adc0259441d9"/>
  </p:sldMasterIdLst>
  <p:notesMasterIdLst>
    <p:notesMasterId xmlns:r="http://schemas.openxmlformats.org/officeDocument/2006/relationships" r:id="Rfc112cddabf34d60"/>
  </p:notesMasterIdLst>
  <p:sldIdLst>
    <p:sldId xmlns:r="http://schemas.openxmlformats.org/officeDocument/2006/relationships" id="256" r:id="R17da7724c0744834"/>
    <p:sldId xmlns:r="http://schemas.openxmlformats.org/officeDocument/2006/relationships" id="257" r:id="R3e1f991a8c114dc7"/>
    <p:sldId xmlns:r="http://schemas.openxmlformats.org/officeDocument/2006/relationships" id="258" r:id="R5c986896027c40e9"/>
    <p:sldId xmlns:r="http://schemas.openxmlformats.org/officeDocument/2006/relationships" id="259" r:id="R8dcb768871e240f2"/>
    <p:sldId xmlns:r="http://schemas.openxmlformats.org/officeDocument/2006/relationships" id="260" r:id="R2604ce3e75d64f96"/>
    <p:sldId xmlns:r="http://schemas.openxmlformats.org/officeDocument/2006/relationships" id="261" r:id="R43b3149314104447"/>
    <p:sldId xmlns:r="http://schemas.openxmlformats.org/officeDocument/2006/relationships" id="262" r:id="R0c6f0ef92b8c4dbd"/>
    <p:sldId xmlns:r="http://schemas.openxmlformats.org/officeDocument/2006/relationships" id="263" r:id="R9c49c9468bba428e"/>
    <p:sldId xmlns:r="http://schemas.openxmlformats.org/officeDocument/2006/relationships" id="264" r:id="Ra57c6ad2f1de4c0f"/>
    <p:sldId xmlns:r="http://schemas.openxmlformats.org/officeDocument/2006/relationships" id="265" r:id="R95c1d668986d496f"/>
    <p:sldId xmlns:r="http://schemas.openxmlformats.org/officeDocument/2006/relationships" id="266" r:id="Ra8e8f3039ef64792"/>
    <p:sldId xmlns:r="http://schemas.openxmlformats.org/officeDocument/2006/relationships" id="267" r:id="R12d93822abc344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23076387114235" /><Relationship Type="http://schemas.openxmlformats.org/officeDocument/2006/relationships/slideMaster" Target="/ppt/slideMasters/slideMaster1.xml" Id="R2d80adc0259441d9" /><Relationship Type="http://schemas.openxmlformats.org/officeDocument/2006/relationships/notesMaster" Target="/ppt/notesMasters/notesMaster1.xml" Id="Rfc112cddabf34d60" /><Relationship Type="http://schemas.openxmlformats.org/officeDocument/2006/relationships/presProps" Target="/ppt/presProps.xml" Id="R82c1906899e04596" /><Relationship Type="http://schemas.openxmlformats.org/officeDocument/2006/relationships/tableStyles" Target="/ppt/tableStyles.xml" Id="R720ed01d074f4e7e" /><Relationship Type="http://schemas.openxmlformats.org/officeDocument/2006/relationships/slide" Target="/ppt/slides/slide1.xml" Id="R17da7724c0744834" /><Relationship Type="http://schemas.openxmlformats.org/officeDocument/2006/relationships/slide" Target="/ppt/slides/slide2.xml" Id="R3e1f991a8c114dc7" /><Relationship Type="http://schemas.openxmlformats.org/officeDocument/2006/relationships/slide" Target="/ppt/slides/slide3.xml" Id="R5c986896027c40e9" /><Relationship Type="http://schemas.openxmlformats.org/officeDocument/2006/relationships/slide" Target="/ppt/slides/slide4.xml" Id="R8dcb768871e240f2" /><Relationship Type="http://schemas.openxmlformats.org/officeDocument/2006/relationships/slide" Target="/ppt/slides/slide5.xml" Id="R2604ce3e75d64f96" /><Relationship Type="http://schemas.openxmlformats.org/officeDocument/2006/relationships/slide" Target="/ppt/slides/slide6.xml" Id="R43b3149314104447" /><Relationship Type="http://schemas.openxmlformats.org/officeDocument/2006/relationships/slide" Target="/ppt/slides/slide7.xml" Id="R0c6f0ef92b8c4dbd" /><Relationship Type="http://schemas.openxmlformats.org/officeDocument/2006/relationships/slide" Target="/ppt/slides/slide8.xml" Id="R9c49c9468bba428e" /><Relationship Type="http://schemas.openxmlformats.org/officeDocument/2006/relationships/slide" Target="/ppt/slides/slide9.xml" Id="Ra57c6ad2f1de4c0f" /><Relationship Type="http://schemas.openxmlformats.org/officeDocument/2006/relationships/slide" Target="/ppt/slides/slide10.xml" Id="R95c1d668986d496f" /><Relationship Type="http://schemas.openxmlformats.org/officeDocument/2006/relationships/slide" Target="/ppt/slides/slide11.xml" Id="Ra8e8f3039ef64792" /><Relationship Type="http://schemas.openxmlformats.org/officeDocument/2006/relationships/slide" Target="/ppt/slides/slide12.xml" Id="R12d93822abc344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984dd080a54a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7795ff3dd34bf1" /><Relationship Type="http://schemas.openxmlformats.org/officeDocument/2006/relationships/notesMaster" Target="/ppt/notesMasters/notesMaster1.xml" Id="Reb1f76ac0dad4e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ae771a398b410c" /><Relationship Type="http://schemas.openxmlformats.org/officeDocument/2006/relationships/notesMaster" Target="/ppt/notesMasters/notesMaster1.xml" Id="R188919b4223d41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c52db698004fec" /><Relationship Type="http://schemas.openxmlformats.org/officeDocument/2006/relationships/notesMaster" Target="/ppt/notesMasters/notesMaster1.xml" Id="R8ca54f157b2d48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6d2cbedf4347cb" /><Relationship Type="http://schemas.openxmlformats.org/officeDocument/2006/relationships/notesMaster" Target="/ppt/notesMasters/notesMaster1.xml" Id="R5cd169965d4c4b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1b2045c4bf48ec" /><Relationship Type="http://schemas.openxmlformats.org/officeDocument/2006/relationships/notesMaster" Target="/ppt/notesMasters/notesMaster1.xml" Id="R8c44192b83ba46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6a8a01c614453b" /><Relationship Type="http://schemas.openxmlformats.org/officeDocument/2006/relationships/notesMaster" Target="/ppt/notesMasters/notesMaster1.xml" Id="R1c0c3e15dfb743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b75a1eae52413d" /><Relationship Type="http://schemas.openxmlformats.org/officeDocument/2006/relationships/notesMaster" Target="/ppt/notesMasters/notesMaster1.xml" Id="R43286e38d9164c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cffa9fa89e4129" /><Relationship Type="http://schemas.openxmlformats.org/officeDocument/2006/relationships/notesMaster" Target="/ppt/notesMasters/notesMaster1.xml" Id="Re3f3542fa1da49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2374c3992b4731" /><Relationship Type="http://schemas.openxmlformats.org/officeDocument/2006/relationships/notesMaster" Target="/ppt/notesMasters/notesMaster1.xml" Id="R0d7e8dc8dcb049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10b8ccf6984822" /><Relationship Type="http://schemas.openxmlformats.org/officeDocument/2006/relationships/notesMaster" Target="/ppt/notesMasters/notesMaster1.xml" Id="R27a1ff7154d948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0ce404fc484373" /><Relationship Type="http://schemas.openxmlformats.org/officeDocument/2006/relationships/notesMaster" Target="/ppt/notesMasters/notesMaster1.xml" Id="R181a69f3f1fc4e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7914f06d544f0f" /><Relationship Type="http://schemas.openxmlformats.org/officeDocument/2006/relationships/notesMaster" Target="/ppt/notesMasters/notesMaster1.xml" Id="R38ee6f278c954a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1 - Título (0:00-0:30)</a:t>
            </a:r>
          </a:p>
          <a:p xmlns:a="http://schemas.openxmlformats.org/drawingml/2006/main">
            <a:r>
              <a:t/>
            </a:r>
          </a:p>
          <a:p xmlns:a="http://schemas.openxmlformats.org/drawingml/2006/main">
            <a:r>
              <a:t>Mi algoritmo asignado es Expectation-Maximization, o EM. Lo aplico a estimar ruido de señales RSS dentro de una simulación de Radio Tomographic Imaging, RTI. El objetivo es entender sus actualizaciones y comprobar qué recupera de datos cuyo modelo conocemos. Después evalúo una reconstrucción espacial. Todo proviene de observaciones sintéticas. La entrega incluye el algoritmo en C++17, resultados reproducibles y análisis de limitaciones.</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Course prototype. EM implementation: em.cpp, C++17 with g++. Numerical data: results/python_preliminary, generated through the C++ EM backend. Python supplies synthetic inputs, RTI and plotting support.</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2 - RTI y función de EM (0:30-1:05)</a:t>
            </a:r>
          </a:p>
          <a:p xmlns:a="http://schemas.openxmlformats.org/drawingml/2006/main">
            <a:r>
              <a:t/>
            </a:r>
          </a:p>
          <a:p xmlns:a="http://schemas.openxmlformats.org/drawingml/2006/main">
            <a:r>
              <a:t>RTI utiliza cambios de señal entre pares de nodos para reconstruir atenuación en una zona. Una persona podría modificar esos enlaces sin llevar un transmisor. En el modelo, y contiene las mediciones, W indica qué píxeles afecta cada enlace y x representa la imagen desconocida. Tenemos 66 mediciones y 100 píxeles, así que necesitamos regularización. EM estima la distribución del ruido a partir de residuos de calibración. La ubicación se calcula después mediante RTI o mediante huellas y K-NN.</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RTI forward model and ellipsoidal weights: Wilson &amp; Patwari [3]. Fingerprint context: Bahl &amp; Padmanabhan [4]. This study uses generated data rather than their measurements.</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3 - Preguntas y diseño (1:05-1:40)</a:t>
            </a:r>
          </a:p>
          <a:p xmlns:a="http://schemas.openxmlformats.org/drawingml/2006/main">
            <a:r>
              <a:t/>
            </a:r>
          </a:p>
          <a:p xmlns:a="http://schemas.openxmlformats.org/drawingml/2006/main">
            <a:r>
              <a:t>Formulé tres preguntas. Primero, cómo cambia el error de parámetros cuando aumento las muestras. Segundo, si distintos valores iniciales llegan a estimaciones similares. Tercero, qué utilidad tiene la reconstrucción resultante. Uso un cuadrado de 6,4 metros, doce nodos perimetrales y una malla de cien píxeles. La calibración principal tiene cinco mil residuos y la comparación espacial usa quinientas consultas. Cada método recibe el mismo vector de observaciones para cada consulta. Eso permite comparar sus errores de manera pareada.</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Protocol: results/python_preliminary/parametros.json. No external mini-tests enter this presentation.</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4 - Mezcla y variable oculta (1:40-2:25)</a:t>
            </a:r>
          </a:p>
          <a:p xmlns:a="http://schemas.openxmlformats.org/drawingml/2006/main">
            <a:r>
              <a:t/>
            </a:r>
          </a:p>
          <a:p xmlns:a="http://schemas.openxmlformats.org/drawingml/2006/main">
            <a:r>
              <a:t>Supongo que cada residuo procede de una de dos gaussianas centradas en cero. Una tiene menor desviación estándar y otra mayor. La variable oculta indica cuál lo generó. Desconocemos esa etiqueta, y un residuo concreto puede ser compatible con ambas componentes. Los parámetros desconocidos son la probabilidad p y las desviaciones s1 y s2. Para generar datos uso los valores publicados por Wilson y Patwari, que aparecen en la tabla. Son parámetros del generador, no mediciones que yo haya realizado. Fijar las medias en cero reduce el problema a tres parámetros.</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Published zero-mean generator parameters: Wilson &amp; Patwari [3]. General EM: Dempster et al. [1].</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5 - E-step y M-step (2:25-3:30)</a:t>
            </a:r>
          </a:p>
          <a:p xmlns:a="http://schemas.openxmlformats.org/drawingml/2006/main">
            <a:r>
              <a:t/>
            </a:r>
          </a:p>
          <a:p xmlns:a="http://schemas.openxmlformats.org/drawingml/2006/main">
            <a:r>
              <a:t>En el paso E calculo tau para cada residuo. Tau es la probabilidad posterior de pertenecer a la componente estrecha. El numerador combina su probabilidad previa con su densidad normal. El denominador suma la contribución de ambas componentes. Por eso el resultado está entre cero y uno. En el paso M actualizo p como promedio de los tau. Para la primera varianza calculo un promedio de residuos al cuadrado, ponderado por tau. Para la segunda utilizo uno menos tau. Saco raíces cuadradas para volver a desviaciones estándar. Repito ambos pasos hasta que el cambio relativo máximo baja de diez a la menos siete o alcanzo quinientas iteraciones. [Señalar cada fórmula y pausar.] Ordeno las etiquetas para mantener s1 menor que s2.</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Direct specialization of Dempster et al. [1] to fixed zero means. C++ code: em.cpp. Stopping and initialization cautions: Wu [2].</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6 - Una iteración numérica (3:30-4:35)</a:t>
            </a:r>
          </a:p>
          <a:p xmlns:a="http://schemas.openxmlformats.org/drawingml/2006/main">
            <a:r>
              <a:t/>
            </a:r>
          </a:p>
          <a:p xmlns:a="http://schemas.openxmlformats.org/drawingml/2006/main">
            <a:r>
              <a:t>Este ejemplo permite revisar las cuentas a mano. Tomo los residuos menos tres, menos uno, uno y tres decibelios. Inicio con probabilidad de un medio y desviaciones uno y tres. Los residuos uno y menos uno tienen responsabilidad estrecha de aproximadamente 0,658. Para tres y menos tres, esa responsabilidad baja a 0,0521. La simetría aparece porque las medias son cero. Ambas parejas participan en las dos componentes, con distinto peso. El nuevo p es el promedio de las cuatro responsabilidades: aproximadamente 0,3550. Los promedios ponderados de residuos al cuadrado producen nuevas desviaciones de 1,2597 y 2,6227. [Pausa para seguir cada fila.] Es una sola iteración pedagógica. Cuatro datos no constituyen un ajuste fiable ni un experimento de localización.</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Pedagogical example, not a localization result. Residuals [-3,-1,1,3] dB. Initial p=0.5,s1=1,s2=3. No floor activates. Same example as the report.</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7 - Implementación y complejidad (4:35-5:30)</a:t>
            </a:r>
          </a:p>
          <a:p xmlns:a="http://schemas.openxmlformats.org/drawingml/2006/main">
            <a:r>
              <a:t/>
            </a:r>
          </a:p>
          <a:p xmlns:a="http://schemas.openxmlformats.org/drawingml/2006/main">
            <a:r>
              <a:t>El núcleo explicable está en em.cpp y se compila con g++ en C++17. Recibe residuos y valores iniciales, calcula densidades en logaritmos, obtiene responsabilidades y actualiza momentos ponderados. Aplica un piso de sigma de 0,15 decibelios y devuelve si alcanzó tolerancia. Con dos componentes fijas, cada iteración recorre N datos: cuesta orden N. Con I iteraciones, el coste total es orden I por N. El vector de responsabilidades ocupa orden N memoria. La cantidad de iteraciones depende de datos e inicialización. Python proporciona los datos y llama al ejecutable para los ajustes. Detenerse por cambios pequeños no garantiza el óptimo global. Los costes de RTI son aparte.</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Code: em.cpp, C++17 compiled with g++ -std=c++17 -O2. Run build/em.exe --demo for the hand-computed example. N: number of residuals, I: number of iterations, two fixed components. Counts exclude RTI, plotting and I/O. Python adapter em_cpp.py calls the executable for all experimental EM fits. Convergence caution: Wu [2].</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8 - Resultados de EM (5:30-6:35)</a:t>
            </a:r>
          </a:p>
          <a:p xmlns:a="http://schemas.openxmlformats.org/drawingml/2006/main">
            <a:r>
              <a:t/>
            </a:r>
          </a:p>
          <a:p xmlns:a="http://schemas.openxmlformats.org/drawingml/2006/main">
            <a:r>
              <a:t>Para cada tamaño hice veinte réplicas generadas y ajustadas de manera independiente. Entre cien y diez mil muestras, el error absoluto medio de p baja de aproximadamente 0,105 a 0,011. También disminuyen los errores de ambas desviaciones. La caída no es perfectamente monótona: p empeora ligeramente de quinientas a mil muestras por variabilidad muestral. Con cien datos convergieron diecinueve de veinte ajustes, y con los otros tamaños convergieron todos. La prueba de inicialización mantiene una muestra de cinco mil datos y cambia el inicio veinte veces. Todos cumplieron tolerancia en entre ochenta y cinco y ciento cincuenta iteraciones, con estimaciones casi iguales. Esto responde las dos primeras preguntas en los datos ensayados, sin demostrar convergencia global.</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Sources: em_sample_size.csv and em_initialization.csv in results/python_preliminary. 20 independent samples per N. Starts experiment: one separate fixed sample of 5,000.</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9 - Escala de Fisher (6:35-7:25)</a:t>
            </a:r>
          </a:p>
          <a:p xmlns:a="http://schemas.openxmlformats.org/drawingml/2006/main">
            <a:r>
              <a:t/>
            </a:r>
          </a:p>
          <a:p xmlns:a="http://schemas.openxmlformats.org/drawingml/2006/main">
            <a:r>
              <a:t>El RTI clásico equilibra ajuste a datos y suavidad mediante alpha. En mi extensión aparece un escalar gamma calculado de la mezcla ajustada. Al dividir la ecuación por gamma, obtengo exactamente la misma forma con alpha dividido por gamma. En esta corrida, alpha efectivo pasa de 0,10 a aproximadamente 0,23910. Si cambia el error, el efecto también puede explicarse como un cambio de regularización. Esta comparación no aísla una ventaja propia de EM. Para evaluarla correctamente debo ajustar alpha con datos de desarrollo y probar la configuración elegida en datos separados.</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Fisher integral and classical RTI are distinct in Wilson &amp; Patwari [3]. This scalar reconstruction is a project extension. Identity holds for gamma&gt;0. Gamma from parametros.json.</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10 - Comparación con el centro (7:25-8:30)</a:t>
            </a:r>
          </a:p>
          <a:p xmlns:a="http://schemas.openxmlformats.org/drawingml/2006/main">
            <a:r>
              <a:t/>
            </a:r>
          </a:p>
          <a:p xmlns:a="http://schemas.openxmlformats.org/drawingml/2006/main">
            <a:r>
              <a:t>Agregué un control necesario: predecir siempre el centro de la habitación, sin mirar ninguna señal. En las mismas quinientas posiciones su error medio es 2,407 metros. Tikhonov da 3,244, la escala de Fisher 3,062 y K-NN 2,618. Todos los métodos basados en señales pierden en promedio frente al control. [Pausa para comparar la primera fila con las restantes.] El pequeño descenso de Fisher frente al RTI original no basta para demostrar localización útil. Este resultado advierte sobre la configuración y el modelo. No invalida la recuperación de parámetros con EM. La tercera pregunta tiene por ahora respuesta negativa: la reconstrucción actual no supera una referencia geométrica sencilla.</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Same 500 queries: metricas.csv and predicciones.csv in results/python_preliminary. Center predicts (3.2,3.2) m without using RSS. Unrounded center mean 2.406646 m / RMSE 2.562239 m.</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11 - Límites y siguiente experimento (8:30-9:10)</a:t>
            </a:r>
          </a:p>
          <a:p xmlns:a="http://schemas.openxmlformats.org/drawingml/2006/main">
            <a:r>
              <a:t/>
            </a:r>
          </a:p>
          <a:p xmlns:a="http://schemas.openxmlformats.org/drawingml/2006/main">
            <a:r>
              <a:t>La calibración y la evaluación comparten la misma familia de ruido. Solo tengo una geometría, una semilla principal y un objetivo puntual. Tampoco modelo propagación electromagnética ni dispongo de mediciones físicas de Wi-Fi. El próximo experimento será ajustar alpha con un conjunto de desarrollo y evaluar en nuevas semillas. Mantendré el control del centro para comprobar si las señales realmente aportan información útil. Así puedo investigar la reconstrucción antes de ampliar el proyecto a paredes, personas o aplicaciones más exigentes.</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These are proposed next steps, not measured results. No physical through-wall sensing, CSI acquisition or missing-data imputation is implemented.</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12 - Conclusiones (9:10-10:00)</a:t>
            </a:r>
          </a:p>
          <a:p xmlns:a="http://schemas.openxmlformats.org/drawingml/2006/main">
            <a:r>
              <a:t/>
            </a:r>
          </a:p>
          <a:p xmlns:a="http://schemas.openxmlformats.org/drawingml/2006/main">
            <a:r>
              <a:t>La aportación principal es una implementación de EM que puedo explicar y verificar paso por paso. Cuando genero datos con la mezcla asumida, más muestras mejoran la recuperación en promedio. Las veinte inicializaciones coinciden sobre una muestra concreta. En cambio, la reconstrucción espacial no supera al centro y la escala de Fisher equivale a cambiar alpha. Presento ambos resultados porque el objetivo del análisis es entender el comportamiento del algoritmo. La siguiente fase evaluará la reconstrucción con regularización ajustada y nuevos datos sintéticos. Con esa evidencia podré decidir qué merece pasar a una validación con mediciones reales. Gracias.</a:t>
            </a:r>
          </a:p>
          <a:p xmlns:a="http://schemas.openxmlformats.org/drawingml/2006/main">
            <a:r>
              <a:t/>
            </a:r>
          </a:p>
          <a:p xmlns:a="http://schemas.openxmlformats.org/drawingml/2006/main">
            <a:r>
              <a:t>Fuentes del discurso: resultados guardados en `results/python_preliminary/`, ecuaciones de EM y control del centro calculado sobre las 500 consultas. El ejemplo de cuatro residuos es pedagógico. Las notas de cada diapositiva contienen la procedencia y las cuatro referencias completas.</a:t>
            </a:r>
          </a:p>
          <a:p xmlns:a="http://schemas.openxmlformats.org/drawingml/2006/main">
            <a:r>
              <a:t/>
            </a:r>
          </a:p>
          <a:p xmlns:a="http://schemas.openxmlformats.org/drawingml/2006/main">
            <a:r>
              <a:t/>
            </a:r>
          </a:p>
          <a:p xmlns:a="http://schemas.openxmlformats.org/drawingml/2006/main">
            <a:r>
              <a:t>FUENTES Y TRAZABILIDAD</a:t>
            </a:r>
          </a:p>
          <a:p xmlns:a="http://schemas.openxmlformats.org/drawingml/2006/main">
            <a:r>
              <a:t>Conclusions restricted to the generated calibration diagnostics and 500-case localization study. Full source metadata in these speaker notes and the report.</a:t>
            </a:r>
          </a:p>
          <a:p xmlns:a="http://schemas.openxmlformats.org/drawingml/2006/main">
            <a:r>
              <a:t/>
            </a:r>
          </a:p>
          <a:p xmlns:a="http://schemas.openxmlformats.org/drawingml/2006/main">
            <a:r>
              <a:t>REFERENCIAS</a:t>
            </a:r>
          </a:p>
          <a:p xmlns:a="http://schemas.openxmlformats.org/drawingml/2006/main">
            <a:r>
              <a:t>Dempster, Laird &amp; Rubin (1977). Maximum Likelihood from Incomplete Data via the EM Algorithm. DOI: 10.1111/j.2517-6161.1977.tb01600.x</a:t>
            </a:r>
          </a:p>
          <a:p xmlns:a="http://schemas.openxmlformats.org/drawingml/2006/main">
            <a:r>
              <a:t>Wu (1983). On the Convergence Properties of the EM Algorithm. DOI: 10.1214/aos/1176346060</a:t>
            </a:r>
          </a:p>
          <a:p xmlns:a="http://schemas.openxmlformats.org/drawingml/2006/main">
            <a:r>
              <a:t>Wilson &amp; Patwari (2010). Radio Tomographic Imaging with Wireless Networks. DOI: 10.1109/TMC.2009.174</a:t>
            </a:r>
          </a:p>
          <a:p xmlns:a="http://schemas.openxmlformats.org/drawingml/2006/main">
            <a:r>
              <a:t>Bahl &amp; Padmanabhan (2000). RADAR: An In-Building RF-Based User Location and Tracking System. DOI: 10.1109/INFCOM.2000.832252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f9f180988142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518923d3eb4e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ca54ea28c14c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226719db1a47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04c990a8314d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1cf5d95157e40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80DD65-4C09-4F0C-8A1C-FBCA4672EE8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E336D83-5148-4E34-8C01-664B8FDF255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33C8FC-8036-4715-A1F0-119851E1B6F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D188AA-001C-497E-8D24-2E3F1A904D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069956-40EE-4013-AE61-070BE061C26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D3DD953-8641-45AF-9805-5D31271918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1F3754-B2DD-4B05-9C25-FBB958331D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316017-4418-4C8C-8C33-8F0CF34DC3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A1E156-8285-46A4-939B-D6A860932B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E5AB6E-F4B6-45C0-8A01-03D47791A0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13622be86a4084" /><Relationship Type="http://schemas.openxmlformats.org/officeDocument/2006/relationships/slideLayout" Target="/ppt/slideLayouts/slideLayout1.xml" Id="Ra21b71cfe74d4b9e" /><Relationship Type="http://schemas.openxmlformats.org/officeDocument/2006/relationships/slideLayout" Target="/ppt/slideLayouts/slideLayout2.xml" Id="R66811559ed964530" /><Relationship Type="http://schemas.openxmlformats.org/officeDocument/2006/relationships/slideLayout" Target="/ppt/slideLayouts/slideLayout3.xml" Id="R1d212685da334fb3" /><Relationship Type="http://schemas.openxmlformats.org/officeDocument/2006/relationships/slideLayout" Target="/ppt/slideLayouts/slideLayout4.xml" Id="Rfab20587601b4ffc" /><Relationship Type="http://schemas.openxmlformats.org/officeDocument/2006/relationships/slideLayout" Target="/ppt/slideLayouts/slideLayout5.xml" Id="R5427fd4e1b004012" /><Relationship Type="http://schemas.openxmlformats.org/officeDocument/2006/relationships/slideLayout" Target="/ppt/slideLayouts/slideLayout6.xml" Id="R3659746a973745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1b71cfe74d4b9e"/>
    <p:sldLayoutId xmlns:r="http://schemas.openxmlformats.org/officeDocument/2006/relationships" id="2147483650" r:id="R66811559ed964530"/>
    <p:sldLayoutId xmlns:r="http://schemas.openxmlformats.org/officeDocument/2006/relationships" id="2147483651" r:id="R1d212685da334fb3"/>
    <p:sldLayoutId xmlns:r="http://schemas.openxmlformats.org/officeDocument/2006/relationships" id="2147483652" r:id="Rfab20587601b4ffc"/>
    <p:sldLayoutId xmlns:r="http://schemas.openxmlformats.org/officeDocument/2006/relationships" id="2147483653" r:id="R5427fd4e1b004012"/>
    <p:sldLayoutId xmlns:r="http://schemas.openxmlformats.org/officeDocument/2006/relationships" id="2147483654" r:id="R3659746a973745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dd465e32374570" /><Relationship Type="http://schemas.openxmlformats.org/officeDocument/2006/relationships/notesSlide" Target="/ppt/notesSlides/notesSlide1.xml" Id="Rc7208d4051a54e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9de3353c524c27" /><Relationship Type="http://schemas.openxmlformats.org/officeDocument/2006/relationships/notesSlide" Target="/ppt/notesSlides/notesSlide2.xml" Id="R92b445e7f76f46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599fd12cd84b81" /><Relationship Type="http://schemas.openxmlformats.org/officeDocument/2006/relationships/notesSlide" Target="/ppt/notesSlides/notesSlide3.xml" Id="R39a9c01a6d0e41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539db8066f744c4" /><Relationship Type="http://schemas.openxmlformats.org/officeDocument/2006/relationships/notesSlide" Target="/ppt/notesSlides/notesSlide4.xml" Id="Rd81c2223c21e4d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f7b38551cd41e8" /><Relationship Type="http://schemas.openxmlformats.org/officeDocument/2006/relationships/notesSlide" Target="/ppt/notesSlides/notesSlide5.xml" Id="Rfa0e87bde8de4a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cce0c8fc4214d98" /><Relationship Type="http://schemas.openxmlformats.org/officeDocument/2006/relationships/notesSlide" Target="/ppt/notesSlides/notesSlide6.xml" Id="Rd827580268db40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ba67203b24b437b" /><Relationship Type="http://schemas.openxmlformats.org/officeDocument/2006/relationships/notesSlide" Target="/ppt/notesSlides/notesSlide7.xml" Id="R88b23a9ddda245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60ad6fedecc440c" /><Relationship Type="http://schemas.openxmlformats.org/officeDocument/2006/relationships/notesSlide" Target="/ppt/notesSlides/notesSlide8.xml" Id="Ref1c53ee2f1348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cb521759ed04341" /><Relationship Type="http://schemas.openxmlformats.org/officeDocument/2006/relationships/notesSlide" Target="/ppt/notesSlides/notesSlide9.xml" Id="R9b239bf5905d44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b080e8473d54660" /><Relationship Type="http://schemas.openxmlformats.org/officeDocument/2006/relationships/notesSlide" Target="/ppt/notesSlides/notesSlide10.xml" Id="R1db3eb421d3f42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ea982c5e1ed446d" /><Relationship Type="http://schemas.openxmlformats.org/officeDocument/2006/relationships/notesSlide" Target="/ppt/notesSlides/notesSlide11.xml" Id="Rcb5971679ba444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0fc6b89513740e0" /><Relationship Type="http://schemas.openxmlformats.org/officeDocument/2006/relationships/notesSlide" Target="/ppt/notesSlides/notesSlide12.xml" Id="R0a2f0ec12a9442a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028326-A7F3-4822-BFB9-CF2789F6C037}"/>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Expectation-Maximization for RSS noise calibration</a:t>
            </a:r>
          </a:p>
        </p:txBody>
      </p:sp>
      <p:sp>
        <p:nvSpPr>
          <p:cNvPr id="2" name="">
            <a:extLst xmlns:a="http://schemas.openxmlformats.org/drawingml/2006/main">
              <a:ext uri="{FF2B5EF4-FFF2-40B4-BE49-F238E27FC236}">
                <a16:creationId xmlns:a16="http://schemas.microsoft.com/office/drawing/2014/main" id="{9933CE11-D5EC-46DA-816D-09DAD353502B}"/>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2346FA4A-FE3E-4BA9-9CA0-7548BE0F6000}"/>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2FE90FB-8B99-4EF3-90D2-0CB28D816DDB}"/>
              </a:ext>
            </a:extLst>
          </p:cNvPr>
          <p:cNvSpPr>
            <a:spLocks xmlns:a="http://schemas.openxmlformats.org/drawingml/2006/main" noGrp="1"/>
          </p:cNvSpPr>
          <p:nvPr/>
        </p:nvSpPr>
        <p:spPr>
          <a:xfrm xmlns:a="http://schemas.openxmlformats.org/drawingml/2006/main">
            <a:off x="628650" y="1666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a:solidFill>
                  <a:srgbClr val="176B87"/>
                </a:solidFill>
                <a:latin typeface="Arial"/>
                <a:ea typeface="Arial"/>
                <a:cs typeface="Arial"/>
              </a:defRPr>
            </a:defPPr>
            <a:lvl1pPr>
              <a:defRPr sz="3225" b="0">
                <a:solidFill>
                  <a:srgbClr val="176B87"/>
                </a:solidFill>
                <a:latin typeface="Arial"/>
                <a:ea typeface="Arial"/>
                <a:cs typeface="Arial"/>
              </a:defRPr>
            </a:lvl1pPr>
            <a:lvl2pPr>
              <a:defRPr sz="3225" b="0">
                <a:solidFill>
                  <a:srgbClr val="176B87"/>
                </a:solidFill>
                <a:latin typeface="Arial"/>
                <a:ea typeface="Arial"/>
                <a:cs typeface="Arial"/>
              </a:defRPr>
            </a:lvl2pPr>
            <a:lvl3pPr>
              <a:defRPr sz="3225" b="0">
                <a:solidFill>
                  <a:srgbClr val="176B87"/>
                </a:solidFill>
                <a:latin typeface="Arial"/>
                <a:ea typeface="Arial"/>
                <a:cs typeface="Arial"/>
              </a:defRPr>
            </a:lvl3pPr>
            <a:lvl4pPr>
              <a:defRPr sz="3225" b="0">
                <a:solidFill>
                  <a:srgbClr val="176B87"/>
                </a:solidFill>
                <a:latin typeface="Arial"/>
                <a:ea typeface="Arial"/>
                <a:cs typeface="Arial"/>
              </a:defRPr>
            </a:lvl4pPr>
            <a:lvl5pPr>
              <a:defRPr sz="3225" b="0">
                <a:solidFill>
                  <a:srgbClr val="176B87"/>
                </a:solidFill>
                <a:latin typeface="Arial"/>
                <a:ea typeface="Arial"/>
                <a:cs typeface="Arial"/>
              </a:defRPr>
            </a:lvl5pPr>
            <a:lvl6pPr>
              <a:defRPr sz="3225" b="0">
                <a:solidFill>
                  <a:srgbClr val="176B87"/>
                </a:solidFill>
                <a:latin typeface="Arial"/>
                <a:ea typeface="Arial"/>
                <a:cs typeface="Arial"/>
              </a:defRPr>
            </a:lvl6pPr>
            <a:lvl7pPr>
              <a:defRPr sz="3225" b="0">
                <a:solidFill>
                  <a:srgbClr val="176B87"/>
                </a:solidFill>
                <a:latin typeface="Arial"/>
                <a:ea typeface="Arial"/>
                <a:cs typeface="Arial"/>
              </a:defRPr>
            </a:lvl7pPr>
            <a:lvl8pPr>
              <a:defRPr sz="3225" b="0">
                <a:solidFill>
                  <a:srgbClr val="176B87"/>
                </a:solidFill>
                <a:latin typeface="Arial"/>
                <a:ea typeface="Arial"/>
                <a:cs typeface="Arial"/>
              </a:defRPr>
            </a:lvl8pPr>
            <a:lvl9pPr>
              <a:defRPr sz="3225" b="0">
                <a:solidFill>
                  <a:srgbClr val="176B87"/>
                </a:solidFill>
                <a:latin typeface="Arial"/>
                <a:ea typeface="Arial"/>
                <a:cs typeface="Arial"/>
              </a:defRPr>
            </a:lvl9pPr>
          </a:lstStyle>
          <a:p xmlns:a="http://schemas.openxmlformats.org/drawingml/2006/main">
            <a:pPr>
              <a:defRPr sz="3225" b="0">
                <a:solidFill>
                  <a:srgbClr val="176B87"/>
                </a:solidFill>
                <a:latin typeface="Arial"/>
                <a:ea typeface="Arial"/>
                <a:cs typeface="Arial"/>
              </a:defRPr>
            </a:pPr>
            <a:r>
              <a:rPr sz="3225" b="0">
                <a:solidFill>
                  <a:srgbClr val="176B87"/>
                </a:solidFill>
                <a:latin typeface="Arial"/>
                <a:ea typeface="Arial"/>
                <a:cs typeface="Arial"/>
              </a:rPr>
              <a:t>A synthetic radio tomographic imaging study</a:t>
            </a:r>
          </a:p>
        </p:txBody>
      </p:sp>
      <p:sp>
        <p:nvSpPr>
          <p:cNvPr id="5" name="">
            <a:extLst xmlns:a="http://schemas.openxmlformats.org/drawingml/2006/main">
              <a:ext uri="{FF2B5EF4-FFF2-40B4-BE49-F238E27FC236}">
                <a16:creationId xmlns:a16="http://schemas.microsoft.com/office/drawing/2014/main" id="{AF2D4128-F5A5-4213-9967-EA1F82B12A78}"/>
              </a:ext>
            </a:extLst>
          </p:cNvPr>
          <p:cNvSpPr>
            <a:spLocks xmlns:a="http://schemas.openxmlformats.org/drawingml/2006/main" noGrp="1"/>
          </p:cNvSpPr>
          <p:nvPr/>
        </p:nvSpPr>
        <p:spPr>
          <a:xfrm xmlns:a="http://schemas.openxmlformats.org/drawingml/2006/main">
            <a:off x="628650" y="3095625"/>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24D"/>
                </a:solidFill>
                <a:latin typeface="Arial"/>
                <a:ea typeface="Arial"/>
                <a:cs typeface="Arial"/>
              </a:defRPr>
            </a:defPPr>
            <a:lvl1pPr>
              <a:defRPr sz="2025" b="0">
                <a:solidFill>
                  <a:srgbClr val="17324D"/>
                </a:solidFill>
                <a:latin typeface="Arial"/>
                <a:ea typeface="Arial"/>
                <a:cs typeface="Arial"/>
              </a:defRPr>
            </a:lvl1pPr>
            <a:lvl2pPr>
              <a:defRPr sz="2025" b="0">
                <a:solidFill>
                  <a:srgbClr val="17324D"/>
                </a:solidFill>
                <a:latin typeface="Arial"/>
                <a:ea typeface="Arial"/>
                <a:cs typeface="Arial"/>
              </a:defRPr>
            </a:lvl2pPr>
            <a:lvl3pPr>
              <a:defRPr sz="2025" b="0">
                <a:solidFill>
                  <a:srgbClr val="17324D"/>
                </a:solidFill>
                <a:latin typeface="Arial"/>
                <a:ea typeface="Arial"/>
                <a:cs typeface="Arial"/>
              </a:defRPr>
            </a:lvl3pPr>
            <a:lvl4pPr>
              <a:defRPr sz="2025" b="0">
                <a:solidFill>
                  <a:srgbClr val="17324D"/>
                </a:solidFill>
                <a:latin typeface="Arial"/>
                <a:ea typeface="Arial"/>
                <a:cs typeface="Arial"/>
              </a:defRPr>
            </a:lvl4pPr>
            <a:lvl5pPr>
              <a:defRPr sz="2025" b="0">
                <a:solidFill>
                  <a:srgbClr val="17324D"/>
                </a:solidFill>
                <a:latin typeface="Arial"/>
                <a:ea typeface="Arial"/>
                <a:cs typeface="Arial"/>
              </a:defRPr>
            </a:lvl5pPr>
            <a:lvl6pPr>
              <a:defRPr sz="2025" b="0">
                <a:solidFill>
                  <a:srgbClr val="17324D"/>
                </a:solidFill>
                <a:latin typeface="Arial"/>
                <a:ea typeface="Arial"/>
                <a:cs typeface="Arial"/>
              </a:defRPr>
            </a:lvl6pPr>
            <a:lvl7pPr>
              <a:defRPr sz="2025" b="0">
                <a:solidFill>
                  <a:srgbClr val="17324D"/>
                </a:solidFill>
                <a:latin typeface="Arial"/>
                <a:ea typeface="Arial"/>
                <a:cs typeface="Arial"/>
              </a:defRPr>
            </a:lvl7pPr>
            <a:lvl8pPr>
              <a:defRPr sz="2025" b="0">
                <a:solidFill>
                  <a:srgbClr val="17324D"/>
                </a:solidFill>
                <a:latin typeface="Arial"/>
                <a:ea typeface="Arial"/>
                <a:cs typeface="Arial"/>
              </a:defRPr>
            </a:lvl8pPr>
            <a:lvl9pPr>
              <a:defRPr sz="2025" b="0">
                <a:solidFill>
                  <a:srgbClr val="17324D"/>
                </a:solidFill>
                <a:latin typeface="Arial"/>
                <a:ea typeface="Arial"/>
                <a:cs typeface="Arial"/>
              </a:defRPr>
            </a:lvl9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Camilo Vásquez</a:t>
            </a:r>
          </a:p>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Yachay Tech University</a:t>
            </a:r>
          </a:p>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School of Mathematical and Computational Sciences</a:t>
            </a:r>
          </a:p>
        </p:txBody>
      </p:sp>
      <p:sp>
        <p:nvSpPr>
          <p:cNvPr id="6" name="">
            <a:extLst xmlns:a="http://schemas.openxmlformats.org/drawingml/2006/main">
              <a:ext uri="{FF2B5EF4-FFF2-40B4-BE49-F238E27FC236}">
                <a16:creationId xmlns:a16="http://schemas.microsoft.com/office/drawing/2014/main" id="{F37F3C31-01A3-447D-93DC-E6139955135F}"/>
              </a:ext>
            </a:extLst>
          </p:cNvPr>
          <p:cNvSpPr>
            <a:spLocks xmlns:a="http://schemas.openxmlformats.org/drawingml/2006/main" noGrp="1"/>
          </p:cNvSpPr>
          <p:nvPr/>
        </p:nvSpPr>
        <p:spPr>
          <a:xfrm xmlns:a="http://schemas.openxmlformats.org/drawingml/2006/main">
            <a:off x="628650" y="5000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C++17 implementation and preliminary results</a:t>
            </a:r>
          </a:p>
        </p:txBody>
      </p:sp>
      <p:sp>
        <p:nvSpPr>
          <p:cNvPr id="7" name="">
            <a:extLst xmlns:a="http://schemas.openxmlformats.org/drawingml/2006/main">
              <a:ext uri="{FF2B5EF4-FFF2-40B4-BE49-F238E27FC236}">
                <a16:creationId xmlns:a16="http://schemas.microsoft.com/office/drawing/2014/main" id="{341220BC-A152-436C-88F4-6A9ECBBA8A5E}"/>
              </a:ext>
            </a:extLst>
          </p:cNvPr>
          <p:cNvSpPr>
            <a:spLocks xmlns:a="http://schemas.openxmlformats.org/drawingml/2006/main" noGrp="1"/>
          </p:cNvSpPr>
          <p:nvPr/>
        </p:nvSpPr>
        <p:spPr>
          <a:xfrm xmlns:a="http://schemas.openxmlformats.org/drawingml/2006/main">
            <a:off x="628650" y="58007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95925"/>
                </a:solidFill>
                <a:latin typeface="Arial"/>
                <a:ea typeface="Arial"/>
                <a:cs typeface="Arial"/>
              </a:defRPr>
            </a:defPPr>
            <a:lvl1pPr>
              <a:defRPr sz="1575" b="0">
                <a:solidFill>
                  <a:srgbClr val="B95925"/>
                </a:solidFill>
                <a:latin typeface="Arial"/>
                <a:ea typeface="Arial"/>
                <a:cs typeface="Arial"/>
              </a:defRPr>
            </a:lvl1pPr>
            <a:lvl2pPr>
              <a:defRPr sz="1575" b="0">
                <a:solidFill>
                  <a:srgbClr val="B95925"/>
                </a:solidFill>
                <a:latin typeface="Arial"/>
                <a:ea typeface="Arial"/>
                <a:cs typeface="Arial"/>
              </a:defRPr>
            </a:lvl2pPr>
            <a:lvl3pPr>
              <a:defRPr sz="1575" b="0">
                <a:solidFill>
                  <a:srgbClr val="B95925"/>
                </a:solidFill>
                <a:latin typeface="Arial"/>
                <a:ea typeface="Arial"/>
                <a:cs typeface="Arial"/>
              </a:defRPr>
            </a:lvl3pPr>
            <a:lvl4pPr>
              <a:defRPr sz="1575" b="0">
                <a:solidFill>
                  <a:srgbClr val="B95925"/>
                </a:solidFill>
                <a:latin typeface="Arial"/>
                <a:ea typeface="Arial"/>
                <a:cs typeface="Arial"/>
              </a:defRPr>
            </a:lvl4pPr>
            <a:lvl5pPr>
              <a:defRPr sz="1575" b="0">
                <a:solidFill>
                  <a:srgbClr val="B95925"/>
                </a:solidFill>
                <a:latin typeface="Arial"/>
                <a:ea typeface="Arial"/>
                <a:cs typeface="Arial"/>
              </a:defRPr>
            </a:lvl5pPr>
            <a:lvl6pPr>
              <a:defRPr sz="1575" b="0">
                <a:solidFill>
                  <a:srgbClr val="B95925"/>
                </a:solidFill>
                <a:latin typeface="Arial"/>
                <a:ea typeface="Arial"/>
                <a:cs typeface="Arial"/>
              </a:defRPr>
            </a:lvl6pPr>
            <a:lvl7pPr>
              <a:defRPr sz="1575" b="0">
                <a:solidFill>
                  <a:srgbClr val="B95925"/>
                </a:solidFill>
                <a:latin typeface="Arial"/>
                <a:ea typeface="Arial"/>
                <a:cs typeface="Arial"/>
              </a:defRPr>
            </a:lvl7pPr>
            <a:lvl8pPr>
              <a:defRPr sz="1575" b="0">
                <a:solidFill>
                  <a:srgbClr val="B95925"/>
                </a:solidFill>
                <a:latin typeface="Arial"/>
                <a:ea typeface="Arial"/>
                <a:cs typeface="Arial"/>
              </a:defRPr>
            </a:lvl8pPr>
            <a:lvl9pPr>
              <a:defRPr sz="1575" b="0">
                <a:solidFill>
                  <a:srgbClr val="B95925"/>
                </a:solidFill>
                <a:latin typeface="Arial"/>
                <a:ea typeface="Arial"/>
                <a:cs typeface="Arial"/>
              </a:defRPr>
            </a:lvl9pPr>
          </a:lstStyle>
          <a:p xmlns:a="http://schemas.openxmlformats.org/drawingml/2006/main">
            <a:pPr>
              <a:defRPr sz="1575" b="0">
                <a:solidFill>
                  <a:srgbClr val="B95925"/>
                </a:solidFill>
                <a:latin typeface="Arial"/>
                <a:ea typeface="Arial"/>
                <a:cs typeface="Arial"/>
              </a:defRPr>
            </a:pPr>
            <a:r>
              <a:rPr sz="1575" b="0">
                <a:solidFill>
                  <a:srgbClr val="B95925"/>
                </a:solidFill>
                <a:latin typeface="Arial"/>
                <a:ea typeface="Arial"/>
                <a:cs typeface="Arial"/>
              </a:rPr>
              <a:t>Synthetic observations. No physical Wi-Fi measurements.</a:t>
            </a:r>
          </a:p>
        </p:txBody>
      </p:sp>
    </p:spTree>
    <p:extLst>
      <p:ext uri="{BB962C8B-B14F-4D97-AF65-F5344CB8AC3E}">
        <p14:creationId xmlns:p14="http://schemas.microsoft.com/office/powerpoint/2010/main" val="8899660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34146E-8C79-4DB4-AA29-572788D54A2F}"/>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RTI and the role of EM</a:t>
            </a:r>
          </a:p>
        </p:txBody>
      </p:sp>
      <p:sp>
        <p:nvSpPr>
          <p:cNvPr id="2" name="">
            <a:extLst xmlns:a="http://schemas.openxmlformats.org/drawingml/2006/main">
              <a:ext uri="{FF2B5EF4-FFF2-40B4-BE49-F238E27FC236}">
                <a16:creationId xmlns:a16="http://schemas.microsoft.com/office/drawing/2014/main" id="{92AE4806-FA1A-47B9-A50A-F856D8960997}"/>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5D57B1B6-8377-4FB1-8D48-AC87C8EC9DAF}"/>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62A0007-58A5-4D8F-966F-603679204D65}"/>
              </a:ext>
            </a:extLst>
          </p:cNvPr>
          <p:cNvSpPr>
            <a:spLocks xmlns:a="http://schemas.openxmlformats.org/drawingml/2006/main" noGrp="1"/>
          </p:cNvSpPr>
          <p:nvPr/>
        </p:nvSpPr>
        <p:spPr>
          <a:xfrm xmlns:a="http://schemas.openxmlformats.org/drawingml/2006/main">
            <a:off x="628650" y="14859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76B87"/>
                </a:solidFill>
                <a:latin typeface="Arial"/>
                <a:ea typeface="Arial"/>
                <a:cs typeface="Arial"/>
              </a:defRPr>
            </a:defPPr>
            <a:lvl1pPr>
              <a:defRPr sz="2475" b="1">
                <a:solidFill>
                  <a:srgbClr val="176B87"/>
                </a:solidFill>
                <a:latin typeface="Arial"/>
                <a:ea typeface="Arial"/>
                <a:cs typeface="Arial"/>
              </a:defRPr>
            </a:lvl1pPr>
            <a:lvl2pPr>
              <a:defRPr sz="2475" b="1">
                <a:solidFill>
                  <a:srgbClr val="176B87"/>
                </a:solidFill>
                <a:latin typeface="Arial"/>
                <a:ea typeface="Arial"/>
                <a:cs typeface="Arial"/>
              </a:defRPr>
            </a:lvl2pPr>
            <a:lvl3pPr>
              <a:defRPr sz="2475" b="1">
                <a:solidFill>
                  <a:srgbClr val="176B87"/>
                </a:solidFill>
                <a:latin typeface="Arial"/>
                <a:ea typeface="Arial"/>
                <a:cs typeface="Arial"/>
              </a:defRPr>
            </a:lvl3pPr>
            <a:lvl4pPr>
              <a:defRPr sz="2475" b="1">
                <a:solidFill>
                  <a:srgbClr val="176B87"/>
                </a:solidFill>
                <a:latin typeface="Arial"/>
                <a:ea typeface="Arial"/>
                <a:cs typeface="Arial"/>
              </a:defRPr>
            </a:lvl4pPr>
            <a:lvl5pPr>
              <a:defRPr sz="2475" b="1">
                <a:solidFill>
                  <a:srgbClr val="176B87"/>
                </a:solidFill>
                <a:latin typeface="Arial"/>
                <a:ea typeface="Arial"/>
                <a:cs typeface="Arial"/>
              </a:defRPr>
            </a:lvl5pPr>
            <a:lvl6pPr>
              <a:defRPr sz="2475" b="1">
                <a:solidFill>
                  <a:srgbClr val="176B87"/>
                </a:solidFill>
                <a:latin typeface="Arial"/>
                <a:ea typeface="Arial"/>
                <a:cs typeface="Arial"/>
              </a:defRPr>
            </a:lvl6pPr>
            <a:lvl7pPr>
              <a:defRPr sz="2475" b="1">
                <a:solidFill>
                  <a:srgbClr val="176B87"/>
                </a:solidFill>
                <a:latin typeface="Arial"/>
                <a:ea typeface="Arial"/>
                <a:cs typeface="Arial"/>
              </a:defRPr>
            </a:lvl7pPr>
            <a:lvl8pPr>
              <a:defRPr sz="2475" b="1">
                <a:solidFill>
                  <a:srgbClr val="176B87"/>
                </a:solidFill>
                <a:latin typeface="Arial"/>
                <a:ea typeface="Arial"/>
                <a:cs typeface="Arial"/>
              </a:defRPr>
            </a:lvl8pPr>
            <a:lvl9pPr>
              <a:defRPr sz="2475" b="1">
                <a:solidFill>
                  <a:srgbClr val="176B87"/>
                </a:solidFill>
                <a:latin typeface="Arial"/>
                <a:ea typeface="Arial"/>
                <a:cs typeface="Arial"/>
              </a:defRPr>
            </a:lvl9pPr>
          </a:lstStyle>
          <a:p xmlns:a="http://schemas.openxmlformats.org/drawingml/2006/main">
            <a:pPr>
              <a:defRPr sz="2475" b="1">
                <a:solidFill>
                  <a:srgbClr val="176B87"/>
                </a:solidFill>
                <a:latin typeface="Arial"/>
                <a:ea typeface="Arial"/>
                <a:cs typeface="Arial"/>
              </a:defRPr>
            </a:pPr>
            <a:r>
              <a:rPr sz="2475" b="1">
                <a:solidFill>
                  <a:srgbClr val="176B87"/>
                </a:solidFill>
                <a:latin typeface="Arial"/>
                <a:ea typeface="Arial"/>
                <a:cs typeface="Arial"/>
              </a:rPr>
              <a:t>RTI reconstructs attenuation from changes across radio links.</a:t>
            </a:r>
          </a:p>
        </p:txBody>
      </p:sp>
      <p:sp>
        <p:nvSpPr>
          <p:cNvPr id="5" name="">
            <a:extLst xmlns:a="http://schemas.openxmlformats.org/drawingml/2006/main">
              <a:ext uri="{FF2B5EF4-FFF2-40B4-BE49-F238E27FC236}">
                <a16:creationId xmlns:a16="http://schemas.microsoft.com/office/drawing/2014/main" id="{1EC1DADB-FE16-405E-A9AA-A3592475F67F}"/>
              </a:ext>
            </a:extLst>
          </p:cNvPr>
          <p:cNvSpPr>
            <a:spLocks xmlns:a="http://schemas.openxmlformats.org/drawingml/2006/main" noGrp="1"/>
          </p:cNvSpPr>
          <p:nvPr/>
        </p:nvSpPr>
        <p:spPr>
          <a:xfrm xmlns:a="http://schemas.openxmlformats.org/drawingml/2006/main">
            <a:off x="628650" y="24574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y = W x + noise</a:t>
            </a:r>
          </a:p>
        </p:txBody>
      </p:sp>
      <p:sp>
        <p:nvSpPr>
          <p:cNvPr id="6" name="">
            <a:extLst xmlns:a="http://schemas.openxmlformats.org/drawingml/2006/main">
              <a:ext uri="{FF2B5EF4-FFF2-40B4-BE49-F238E27FC236}">
                <a16:creationId xmlns:a16="http://schemas.microsoft.com/office/drawing/2014/main" id="{0D2B07F6-C72A-43D5-9C1D-4EFF51D11EBC}"/>
              </a:ext>
            </a:extLst>
          </p:cNvPr>
          <p:cNvSpPr>
            <a:spLocks xmlns:a="http://schemas.openxmlformats.org/drawingml/2006/main" noGrp="1"/>
          </p:cNvSpPr>
          <p:nvPr/>
        </p:nvSpPr>
        <p:spPr>
          <a:xfrm xmlns:a="http://schemas.openxmlformats.org/drawingml/2006/main">
            <a:off x="628650" y="3295650"/>
            <a:ext cx="5619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324D"/>
                </a:solidFill>
                <a:latin typeface="Arial"/>
                <a:ea typeface="Arial"/>
                <a:cs typeface="Arial"/>
              </a:defRPr>
            </a:defPPr>
            <a:lvl1pPr>
              <a:defRPr sz="2175" b="0">
                <a:solidFill>
                  <a:srgbClr val="17324D"/>
                </a:solidFill>
                <a:latin typeface="Arial"/>
                <a:ea typeface="Arial"/>
                <a:cs typeface="Arial"/>
              </a:defRPr>
            </a:lvl1pPr>
            <a:lvl2pPr>
              <a:defRPr sz="2175" b="0">
                <a:solidFill>
                  <a:srgbClr val="17324D"/>
                </a:solidFill>
                <a:latin typeface="Arial"/>
                <a:ea typeface="Arial"/>
                <a:cs typeface="Arial"/>
              </a:defRPr>
            </a:lvl2pPr>
            <a:lvl3pPr>
              <a:defRPr sz="2175" b="0">
                <a:solidFill>
                  <a:srgbClr val="17324D"/>
                </a:solidFill>
                <a:latin typeface="Arial"/>
                <a:ea typeface="Arial"/>
                <a:cs typeface="Arial"/>
              </a:defRPr>
            </a:lvl3pPr>
            <a:lvl4pPr>
              <a:defRPr sz="2175" b="0">
                <a:solidFill>
                  <a:srgbClr val="17324D"/>
                </a:solidFill>
                <a:latin typeface="Arial"/>
                <a:ea typeface="Arial"/>
                <a:cs typeface="Arial"/>
              </a:defRPr>
            </a:lvl4pPr>
            <a:lvl5pPr>
              <a:defRPr sz="2175" b="0">
                <a:solidFill>
                  <a:srgbClr val="17324D"/>
                </a:solidFill>
                <a:latin typeface="Arial"/>
                <a:ea typeface="Arial"/>
                <a:cs typeface="Arial"/>
              </a:defRPr>
            </a:lvl5pPr>
            <a:lvl6pPr>
              <a:defRPr sz="2175" b="0">
                <a:solidFill>
                  <a:srgbClr val="17324D"/>
                </a:solidFill>
                <a:latin typeface="Arial"/>
                <a:ea typeface="Arial"/>
                <a:cs typeface="Arial"/>
              </a:defRPr>
            </a:lvl6pPr>
            <a:lvl7pPr>
              <a:defRPr sz="2175" b="0">
                <a:solidFill>
                  <a:srgbClr val="17324D"/>
                </a:solidFill>
                <a:latin typeface="Arial"/>
                <a:ea typeface="Arial"/>
                <a:cs typeface="Arial"/>
              </a:defRPr>
            </a:lvl7pPr>
            <a:lvl8pPr>
              <a:defRPr sz="2175" b="0">
                <a:solidFill>
                  <a:srgbClr val="17324D"/>
                </a:solidFill>
                <a:latin typeface="Arial"/>
                <a:ea typeface="Arial"/>
                <a:cs typeface="Arial"/>
              </a:defRPr>
            </a:lvl8pPr>
            <a:lvl9pPr>
              <a:defRPr sz="2175" b="0">
                <a:solidFill>
                  <a:srgbClr val="17324D"/>
                </a:solidFill>
                <a:latin typeface="Arial"/>
                <a:ea typeface="Arial"/>
                <a:cs typeface="Arial"/>
              </a:defRPr>
            </a:lvl9pPr>
          </a:lstStyle>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y: RSS changes on 66 links</a:t>
            </a:r>
          </a:p>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W: link-to-pixel sensitivity matrix</a:t>
            </a:r>
          </a:p>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x: attenuation in 100 image pixels</a:t>
            </a:r>
          </a:p>
        </p:txBody>
      </p:sp>
      <p:sp>
        <p:nvSpPr>
          <p:cNvPr id="7" name="">
            <a:extLst xmlns:a="http://schemas.openxmlformats.org/drawingml/2006/main">
              <a:ext uri="{FF2B5EF4-FFF2-40B4-BE49-F238E27FC236}">
                <a16:creationId xmlns:a16="http://schemas.microsoft.com/office/drawing/2014/main" id="{699E7CAD-5ED9-4FDA-8D14-62A0477309F9}"/>
              </a:ext>
            </a:extLst>
          </p:cNvPr>
          <p:cNvSpPr>
            <a:spLocks xmlns:a="http://schemas.openxmlformats.org/drawingml/2006/main" noGrp="1"/>
          </p:cNvSpPr>
          <p:nvPr/>
        </p:nvSpPr>
        <p:spPr>
          <a:xfrm xmlns:a="http://schemas.openxmlformats.org/drawingml/2006/main">
            <a:off x="6858000" y="3295650"/>
            <a:ext cx="4572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24D"/>
                </a:solidFill>
                <a:latin typeface="Arial"/>
                <a:ea typeface="Arial"/>
                <a:cs typeface="Arial"/>
              </a:defRPr>
            </a:defPPr>
            <a:lvl1pPr>
              <a:defRPr sz="2100" b="0">
                <a:solidFill>
                  <a:srgbClr val="17324D"/>
                </a:solidFill>
                <a:latin typeface="Arial"/>
                <a:ea typeface="Arial"/>
                <a:cs typeface="Arial"/>
              </a:defRPr>
            </a:lvl1pPr>
            <a:lvl2pPr>
              <a:defRPr sz="2100" b="0">
                <a:solidFill>
                  <a:srgbClr val="17324D"/>
                </a:solidFill>
                <a:latin typeface="Arial"/>
                <a:ea typeface="Arial"/>
                <a:cs typeface="Arial"/>
              </a:defRPr>
            </a:lvl2pPr>
            <a:lvl3pPr>
              <a:defRPr sz="2100" b="0">
                <a:solidFill>
                  <a:srgbClr val="17324D"/>
                </a:solidFill>
                <a:latin typeface="Arial"/>
                <a:ea typeface="Arial"/>
                <a:cs typeface="Arial"/>
              </a:defRPr>
            </a:lvl3pPr>
            <a:lvl4pPr>
              <a:defRPr sz="2100" b="0">
                <a:solidFill>
                  <a:srgbClr val="17324D"/>
                </a:solidFill>
                <a:latin typeface="Arial"/>
                <a:ea typeface="Arial"/>
                <a:cs typeface="Arial"/>
              </a:defRPr>
            </a:lvl4pPr>
            <a:lvl5pPr>
              <a:defRPr sz="2100" b="0">
                <a:solidFill>
                  <a:srgbClr val="17324D"/>
                </a:solidFill>
                <a:latin typeface="Arial"/>
                <a:ea typeface="Arial"/>
                <a:cs typeface="Arial"/>
              </a:defRPr>
            </a:lvl5pPr>
            <a:lvl6pPr>
              <a:defRPr sz="2100" b="0">
                <a:solidFill>
                  <a:srgbClr val="17324D"/>
                </a:solidFill>
                <a:latin typeface="Arial"/>
                <a:ea typeface="Arial"/>
                <a:cs typeface="Arial"/>
              </a:defRPr>
            </a:lvl6pPr>
            <a:lvl7pPr>
              <a:defRPr sz="2100" b="0">
                <a:solidFill>
                  <a:srgbClr val="17324D"/>
                </a:solidFill>
                <a:latin typeface="Arial"/>
                <a:ea typeface="Arial"/>
                <a:cs typeface="Arial"/>
              </a:defRPr>
            </a:lvl7pPr>
            <a:lvl8pPr>
              <a:defRPr sz="2100" b="0">
                <a:solidFill>
                  <a:srgbClr val="17324D"/>
                </a:solidFill>
                <a:latin typeface="Arial"/>
                <a:ea typeface="Arial"/>
                <a:cs typeface="Arial"/>
              </a:defRPr>
            </a:lvl8pPr>
            <a:lvl9pPr>
              <a:defRPr sz="2100" b="0">
                <a:solidFill>
                  <a:srgbClr val="17324D"/>
                </a:solidFill>
                <a:latin typeface="Arial"/>
                <a:ea typeface="Arial"/>
                <a:cs typeface="Arial"/>
              </a:defRPr>
            </a:lvl9pPr>
          </a:lstStyle>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EM estimates the noise distribution</a:t>
            </a:r>
          </a:p>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from centered calibration residuals.</a:t>
            </a:r>
          </a:p>
          <a:p xmlns:a="http://schemas.openxmlformats.org/drawingml/2006/main">
            <a:r>
              <a:t/>
            </a:r>
          </a:p>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It does not directly output a location.</a:t>
            </a:r>
          </a:p>
        </p:txBody>
      </p:sp>
      <p:sp>
        <p:nvSpPr>
          <p:cNvPr id="8" name="">
            <a:extLst xmlns:a="http://schemas.openxmlformats.org/drawingml/2006/main">
              <a:ext uri="{FF2B5EF4-FFF2-40B4-BE49-F238E27FC236}">
                <a16:creationId xmlns:a16="http://schemas.microsoft.com/office/drawing/2014/main" id="{987AD0F8-3AB2-49BB-9CA7-6CBE27AF793B}"/>
              </a:ext>
            </a:extLst>
          </p:cNvPr>
          <p:cNvSpPr>
            <a:spLocks xmlns:a="http://schemas.openxmlformats.org/drawingml/2006/main" noGrp="1"/>
          </p:cNvSpPr>
          <p:nvPr/>
        </p:nvSpPr>
        <p:spPr>
          <a:xfrm xmlns:a="http://schemas.openxmlformats.org/drawingml/2006/main">
            <a:off x="628650" y="58007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95925"/>
                </a:solidFill>
                <a:latin typeface="Arial"/>
                <a:ea typeface="Arial"/>
                <a:cs typeface="Arial"/>
              </a:defRPr>
            </a:defPPr>
            <a:lvl1pPr>
              <a:defRPr sz="1575" b="0">
                <a:solidFill>
                  <a:srgbClr val="B95925"/>
                </a:solidFill>
                <a:latin typeface="Arial"/>
                <a:ea typeface="Arial"/>
                <a:cs typeface="Arial"/>
              </a:defRPr>
            </a:lvl1pPr>
            <a:lvl2pPr>
              <a:defRPr sz="1575" b="0">
                <a:solidFill>
                  <a:srgbClr val="B95925"/>
                </a:solidFill>
                <a:latin typeface="Arial"/>
                <a:ea typeface="Arial"/>
                <a:cs typeface="Arial"/>
              </a:defRPr>
            </a:lvl2pPr>
            <a:lvl3pPr>
              <a:defRPr sz="1575" b="0">
                <a:solidFill>
                  <a:srgbClr val="B95925"/>
                </a:solidFill>
                <a:latin typeface="Arial"/>
                <a:ea typeface="Arial"/>
                <a:cs typeface="Arial"/>
              </a:defRPr>
            </a:lvl3pPr>
            <a:lvl4pPr>
              <a:defRPr sz="1575" b="0">
                <a:solidFill>
                  <a:srgbClr val="B95925"/>
                </a:solidFill>
                <a:latin typeface="Arial"/>
                <a:ea typeface="Arial"/>
                <a:cs typeface="Arial"/>
              </a:defRPr>
            </a:lvl4pPr>
            <a:lvl5pPr>
              <a:defRPr sz="1575" b="0">
                <a:solidFill>
                  <a:srgbClr val="B95925"/>
                </a:solidFill>
                <a:latin typeface="Arial"/>
                <a:ea typeface="Arial"/>
                <a:cs typeface="Arial"/>
              </a:defRPr>
            </a:lvl5pPr>
            <a:lvl6pPr>
              <a:defRPr sz="1575" b="0">
                <a:solidFill>
                  <a:srgbClr val="B95925"/>
                </a:solidFill>
                <a:latin typeface="Arial"/>
                <a:ea typeface="Arial"/>
                <a:cs typeface="Arial"/>
              </a:defRPr>
            </a:lvl6pPr>
            <a:lvl7pPr>
              <a:defRPr sz="1575" b="0">
                <a:solidFill>
                  <a:srgbClr val="B95925"/>
                </a:solidFill>
                <a:latin typeface="Arial"/>
                <a:ea typeface="Arial"/>
                <a:cs typeface="Arial"/>
              </a:defRPr>
            </a:lvl7pPr>
            <a:lvl8pPr>
              <a:defRPr sz="1575" b="0">
                <a:solidFill>
                  <a:srgbClr val="B95925"/>
                </a:solidFill>
                <a:latin typeface="Arial"/>
                <a:ea typeface="Arial"/>
                <a:cs typeface="Arial"/>
              </a:defRPr>
            </a:lvl8pPr>
            <a:lvl9pPr>
              <a:defRPr sz="1575" b="0">
                <a:solidFill>
                  <a:srgbClr val="B95925"/>
                </a:solidFill>
                <a:latin typeface="Arial"/>
                <a:ea typeface="Arial"/>
                <a:cs typeface="Arial"/>
              </a:defRPr>
            </a:lvl9pPr>
          </a:lstStyle>
          <a:p xmlns:a="http://schemas.openxmlformats.org/drawingml/2006/main">
            <a:pPr>
              <a:defRPr sz="1575" b="0">
                <a:solidFill>
                  <a:srgbClr val="B95925"/>
                </a:solidFill>
                <a:latin typeface="Arial"/>
                <a:ea typeface="Arial"/>
                <a:cs typeface="Arial"/>
              </a:defRPr>
            </a:pPr>
            <a:r>
              <a:rPr sz="1575" b="0">
                <a:solidFill>
                  <a:srgbClr val="B95925"/>
                </a:solidFill>
                <a:latin typeface="Arial"/>
                <a:ea typeface="Arial"/>
                <a:cs typeface="Arial"/>
              </a:rPr>
              <a:t>The target carries no transmitter in the device-free RTI concept.</a:t>
            </a:r>
          </a:p>
        </p:txBody>
      </p:sp>
    </p:spTree>
    <p:extLst>
      <p:ext uri="{BB962C8B-B14F-4D97-AF65-F5344CB8AC3E}">
        <p14:creationId xmlns:p14="http://schemas.microsoft.com/office/powerpoint/2010/main" val="1984236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C7A2AC-52B0-4F0E-8017-7C6E1B594846}"/>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Questions and experimental design</a:t>
            </a:r>
          </a:p>
        </p:txBody>
      </p:sp>
      <p:sp>
        <p:nvSpPr>
          <p:cNvPr id="2" name="">
            <a:extLst xmlns:a="http://schemas.openxmlformats.org/drawingml/2006/main">
              <a:ext uri="{FF2B5EF4-FFF2-40B4-BE49-F238E27FC236}">
                <a16:creationId xmlns:a16="http://schemas.microsoft.com/office/drawing/2014/main" id="{CC4C1DE5-2664-4DD4-8FC6-EC606A0A833C}"/>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CB77ECE7-76A1-42AD-BB60-247BF715BC01}"/>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30F5842-B4D5-4502-BCBB-036319EC6256}"/>
              </a:ext>
            </a:extLst>
          </p:cNvPr>
          <p:cNvSpPr>
            <a:spLocks xmlns:a="http://schemas.openxmlformats.org/drawingml/2006/main" noGrp="1"/>
          </p:cNvSpPr>
          <p:nvPr/>
        </p:nvSpPr>
        <p:spPr>
          <a:xfrm xmlns:a="http://schemas.openxmlformats.org/drawingml/2006/main">
            <a:off x="628650" y="1438275"/>
            <a:ext cx="10858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324D"/>
                </a:solidFill>
                <a:latin typeface="Arial"/>
                <a:ea typeface="Arial"/>
                <a:cs typeface="Arial"/>
              </a:defRPr>
            </a:defPPr>
            <a:lvl1pPr>
              <a:defRPr sz="2250" b="0">
                <a:solidFill>
                  <a:srgbClr val="17324D"/>
                </a:solidFill>
                <a:latin typeface="Arial"/>
                <a:ea typeface="Arial"/>
                <a:cs typeface="Arial"/>
              </a:defRPr>
            </a:lvl1pPr>
            <a:lvl2pPr>
              <a:defRPr sz="2250" b="0">
                <a:solidFill>
                  <a:srgbClr val="17324D"/>
                </a:solidFill>
                <a:latin typeface="Arial"/>
                <a:ea typeface="Arial"/>
                <a:cs typeface="Arial"/>
              </a:defRPr>
            </a:lvl2pPr>
            <a:lvl3pPr>
              <a:defRPr sz="2250" b="0">
                <a:solidFill>
                  <a:srgbClr val="17324D"/>
                </a:solidFill>
                <a:latin typeface="Arial"/>
                <a:ea typeface="Arial"/>
                <a:cs typeface="Arial"/>
              </a:defRPr>
            </a:lvl3pPr>
            <a:lvl4pPr>
              <a:defRPr sz="2250" b="0">
                <a:solidFill>
                  <a:srgbClr val="17324D"/>
                </a:solidFill>
                <a:latin typeface="Arial"/>
                <a:ea typeface="Arial"/>
                <a:cs typeface="Arial"/>
              </a:defRPr>
            </a:lvl4pPr>
            <a:lvl5pPr>
              <a:defRPr sz="2250" b="0">
                <a:solidFill>
                  <a:srgbClr val="17324D"/>
                </a:solidFill>
                <a:latin typeface="Arial"/>
                <a:ea typeface="Arial"/>
                <a:cs typeface="Arial"/>
              </a:defRPr>
            </a:lvl5pPr>
            <a:lvl6pPr>
              <a:defRPr sz="2250" b="0">
                <a:solidFill>
                  <a:srgbClr val="17324D"/>
                </a:solidFill>
                <a:latin typeface="Arial"/>
                <a:ea typeface="Arial"/>
                <a:cs typeface="Arial"/>
              </a:defRPr>
            </a:lvl6pPr>
            <a:lvl7pPr>
              <a:defRPr sz="2250" b="0">
                <a:solidFill>
                  <a:srgbClr val="17324D"/>
                </a:solidFill>
                <a:latin typeface="Arial"/>
                <a:ea typeface="Arial"/>
                <a:cs typeface="Arial"/>
              </a:defRPr>
            </a:lvl7pPr>
            <a:lvl8pPr>
              <a:defRPr sz="2250" b="0">
                <a:solidFill>
                  <a:srgbClr val="17324D"/>
                </a:solidFill>
                <a:latin typeface="Arial"/>
                <a:ea typeface="Arial"/>
                <a:cs typeface="Arial"/>
              </a:defRPr>
            </a:lvl8pPr>
            <a:lvl9pPr>
              <a:defRPr sz="2250" b="0">
                <a:solidFill>
                  <a:srgbClr val="17324D"/>
                </a:solidFill>
                <a:latin typeface="Arial"/>
                <a:ea typeface="Arial"/>
                <a:cs typeface="Arial"/>
              </a:defRPr>
            </a:lvl9pPr>
          </a:lstStyle>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RQ1  Does parameter error fall as sample size grows?</a:t>
            </a:r>
          </a:p>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RQ2  Do different initial values yield similar estimates?</a:t>
            </a:r>
          </a:p>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RQ3  How useful is the resulting RTI reconstruction?</a:t>
            </a:r>
          </a:p>
        </p:txBody>
      </p:sp>
      <p:graphicFrame>
        <p:nvGraphicFramePr>
          <p:cNvPr id="5" name="">
            <a:extLst xmlns:a="http://schemas.openxmlformats.org/drawingml/2006/main">
              <a:ext uri="{FF2B5EF4-FFF2-40B4-BE49-F238E27FC236}">
                <a16:creationId xmlns:a16="http://schemas.microsoft.com/office/drawing/2014/main" id="{B8A9A942-485F-4883-AA19-F97F3746B4AF}"/>
              </a:ext>
            </a:extLst>
          </p:cNvPr>
          <p:cNvGraphicFramePr/>
          <p:nvPr/>
        </p:nvGraphicFramePr>
        <p:xfrm>
          <a:off xmlns:a="http://schemas.openxmlformats.org/drawingml/2006/main" x="628650" y="3143250"/>
          <a:ext xmlns:a="http://schemas.openxmlformats.org/drawingml/2006/main" cx="10763250" cy="2276475"/>
        </p:xfrm>
        <a:graphic xmlns:a="http://schemas.openxmlformats.org/drawingml/2006/main">
          <a:graphicData uri="http://schemas.openxmlformats.org/drawingml/2006/table">
            <a:tbl>
              <a:tblPr firstRow="1" bandRow="0"/>
              <a:tblGrid>
                <a:gridCol w="4095750"/>
                <a:gridCol w="6667500"/>
              </a:tblGrid>
              <a:tr h="455295">
                <a:tc>
                  <a:txBody>
                    <a:bodyPr/>
                    <a:lstStyle/>
                    <a:p>
                      <a:r>
                        <a:rPr sz="1725" b="1">
                          <a:solidFill>
                            <a:srgbClr val="FFFFFF"/>
                          </a:solidFill>
                          <a:latin typeface="Arial"/>
                          <a:ea typeface="Arial"/>
                          <a:cs typeface="Arial"/>
                        </a:rPr>
                        <a:t>Setting</a:t>
                      </a:r>
                    </a:p>
                  </a:txBody>
                  <a:tcPr marL="114300" marR="114300" marT="95250" marB="95250" anchor="ctr">
                    <a:lnL w="9525">
                      <a:solidFill>
                        <a:srgbClr val="D7E0E7"/>
                      </a:solidFill>
                      <a:prstDash val="solid"/>
                    </a:lnL>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c>
                  <a:txBody>
                    <a:bodyPr/>
                    <a:lstStyle/>
                    <a:p>
                      <a:r>
                        <a:rPr sz="1725" b="1">
                          <a:solidFill>
                            <a:srgbClr val="FFFFFF"/>
                          </a:solidFill>
                          <a:latin typeface="Arial"/>
                          <a:ea typeface="Arial"/>
                          <a:cs typeface="Arial"/>
                        </a:rPr>
                        <a:t>Value</a:t>
                      </a:r>
                    </a:p>
                  </a:txBody>
                  <a:tcPr marL="114300" marR="114300" marT="95250" marB="95250" anchor="ctr">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r>
              <a:tr h="455295">
                <a:tc>
                  <a:txBody>
                    <a:bodyPr/>
                    <a:lstStyle/>
                    <a:p>
                      <a:r>
                        <a:rPr sz="1725" b="0">
                          <a:solidFill>
                            <a:srgbClr val="17324D"/>
                          </a:solidFill>
                          <a:latin typeface="Arial"/>
                          <a:ea typeface="Arial"/>
                          <a:cs typeface="Arial"/>
                        </a:rPr>
                        <a:t>Area and grid</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a:lstStyle/>
                    <a:p>
                      <a:r>
                        <a:rPr sz="1725" b="0">
                          <a:solidFill>
                            <a:srgbClr val="17324D"/>
                          </a:solidFill>
                          <a:latin typeface="Arial"/>
                          <a:ea typeface="Arial"/>
                          <a:cs typeface="Arial"/>
                        </a:rPr>
                        <a:t>6.4 m square, 10 x 10 pixels</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r>
              <a:tr h="455295">
                <a:tc>
                  <a:txBody>
                    <a:bodyPr/>
                    <a:lstStyle/>
                    <a:p>
                      <a:r>
                        <a:rPr sz="1725" b="0">
                          <a:solidFill>
                            <a:srgbClr val="17324D"/>
                          </a:solidFill>
                          <a:latin typeface="Arial"/>
                          <a:ea typeface="Arial"/>
                          <a:cs typeface="Arial"/>
                        </a:rPr>
                        <a:t>Network</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EAF1F5"/>
                    </a:solidFill>
                  </a:tcPr>
                </a:tc>
                <a:tc>
                  <a:txBody>
                    <a:bodyPr/>
                    <a:lstStyle/>
                    <a:p>
                      <a:r>
                        <a:rPr sz="1725" b="0">
                          <a:solidFill>
                            <a:srgbClr val="17324D"/>
                          </a:solidFill>
                          <a:latin typeface="Arial"/>
                          <a:ea typeface="Arial"/>
                          <a:cs typeface="Arial"/>
                        </a:rPr>
                        <a:t>12 perimeter nodes, 66 available links</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r>
              <a:tr h="455295">
                <a:tc>
                  <a:txBody>
                    <a:bodyPr/>
                    <a:lstStyle/>
                    <a:p>
                      <a:r>
                        <a:rPr sz="1725" b="0">
                          <a:solidFill>
                            <a:srgbClr val="17324D"/>
                          </a:solidFill>
                          <a:latin typeface="Arial"/>
                          <a:ea typeface="Arial"/>
                          <a:cs typeface="Arial"/>
                        </a:rPr>
                        <a:t>Main calibration and queries</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a:lstStyle/>
                    <a:p>
                      <a:r>
                        <a:rPr sz="1725" b="0">
                          <a:solidFill>
                            <a:srgbClr val="17324D"/>
                          </a:solidFill>
                          <a:latin typeface="Arial"/>
                          <a:ea typeface="Arial"/>
                          <a:cs typeface="Arial"/>
                        </a:rPr>
                        <a:t>5,000 residuals, 500 paired location cases</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r>
              <a:tr h="455295">
                <a:tc>
                  <a:txBody>
                    <a:bodyPr/>
                    <a:lstStyle/>
                    <a:p>
                      <a:r>
                        <a:rPr sz="1725" b="0">
                          <a:solidFill>
                            <a:srgbClr val="17324D"/>
                          </a:solidFill>
                          <a:latin typeface="Arial"/>
                          <a:ea typeface="Arial"/>
                          <a:cs typeface="Arial"/>
                        </a:rPr>
                        <a:t>Reproducibility</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EAF1F5"/>
                    </a:solidFill>
                  </a:tcPr>
                </a:tc>
                <a:tc>
                  <a:txBody>
                    <a:bodyPr/>
                    <a:lstStyle/>
                    <a:p>
                      <a:r>
                        <a:rPr sz="1725" b="0">
                          <a:solidFill>
                            <a:srgbClr val="17324D"/>
                          </a:solidFill>
                          <a:latin typeface="Arial"/>
                          <a:ea typeface="Arial"/>
                          <a:cs typeface="Arial"/>
                        </a:rPr>
                        <a:t>Seed 7, independent training/query noise</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r>
            </a:tbl>
          </a:graphicData>
        </a:graphic>
      </p:graphicFrame>
      <p:sp>
        <p:nvSpPr>
          <p:cNvPr id="6" name="">
            <a:extLst xmlns:a="http://schemas.openxmlformats.org/drawingml/2006/main">
              <a:ext uri="{FF2B5EF4-FFF2-40B4-BE49-F238E27FC236}">
                <a16:creationId xmlns:a16="http://schemas.microsoft.com/office/drawing/2014/main" id="{06593295-F4AA-4556-A5DD-848EE59EF95B}"/>
              </a:ext>
            </a:extLst>
          </p:cNvPr>
          <p:cNvSpPr>
            <a:spLocks xmlns:a="http://schemas.openxmlformats.org/drawingml/2006/main" noGrp="1"/>
          </p:cNvSpPr>
          <p:nvPr/>
        </p:nvSpPr>
        <p:spPr>
          <a:xfrm xmlns:a="http://schemas.openxmlformats.org/drawingml/2006/main">
            <a:off x="628650" y="58007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95925"/>
                </a:solidFill>
                <a:latin typeface="Arial"/>
                <a:ea typeface="Arial"/>
                <a:cs typeface="Arial"/>
              </a:defRPr>
            </a:defPPr>
            <a:lvl1pPr>
              <a:defRPr sz="1575" b="0">
                <a:solidFill>
                  <a:srgbClr val="B95925"/>
                </a:solidFill>
                <a:latin typeface="Arial"/>
                <a:ea typeface="Arial"/>
                <a:cs typeface="Arial"/>
              </a:defRPr>
            </a:lvl1pPr>
            <a:lvl2pPr>
              <a:defRPr sz="1575" b="0">
                <a:solidFill>
                  <a:srgbClr val="B95925"/>
                </a:solidFill>
                <a:latin typeface="Arial"/>
                <a:ea typeface="Arial"/>
                <a:cs typeface="Arial"/>
              </a:defRPr>
            </a:lvl2pPr>
            <a:lvl3pPr>
              <a:defRPr sz="1575" b="0">
                <a:solidFill>
                  <a:srgbClr val="B95925"/>
                </a:solidFill>
                <a:latin typeface="Arial"/>
                <a:ea typeface="Arial"/>
                <a:cs typeface="Arial"/>
              </a:defRPr>
            </a:lvl3pPr>
            <a:lvl4pPr>
              <a:defRPr sz="1575" b="0">
                <a:solidFill>
                  <a:srgbClr val="B95925"/>
                </a:solidFill>
                <a:latin typeface="Arial"/>
                <a:ea typeface="Arial"/>
                <a:cs typeface="Arial"/>
              </a:defRPr>
            </a:lvl4pPr>
            <a:lvl5pPr>
              <a:defRPr sz="1575" b="0">
                <a:solidFill>
                  <a:srgbClr val="B95925"/>
                </a:solidFill>
                <a:latin typeface="Arial"/>
                <a:ea typeface="Arial"/>
                <a:cs typeface="Arial"/>
              </a:defRPr>
            </a:lvl5pPr>
            <a:lvl6pPr>
              <a:defRPr sz="1575" b="0">
                <a:solidFill>
                  <a:srgbClr val="B95925"/>
                </a:solidFill>
                <a:latin typeface="Arial"/>
                <a:ea typeface="Arial"/>
                <a:cs typeface="Arial"/>
              </a:defRPr>
            </a:lvl6pPr>
            <a:lvl7pPr>
              <a:defRPr sz="1575" b="0">
                <a:solidFill>
                  <a:srgbClr val="B95925"/>
                </a:solidFill>
                <a:latin typeface="Arial"/>
                <a:ea typeface="Arial"/>
                <a:cs typeface="Arial"/>
              </a:defRPr>
            </a:lvl7pPr>
            <a:lvl8pPr>
              <a:defRPr sz="1575" b="0">
                <a:solidFill>
                  <a:srgbClr val="B95925"/>
                </a:solidFill>
                <a:latin typeface="Arial"/>
                <a:ea typeface="Arial"/>
                <a:cs typeface="Arial"/>
              </a:defRPr>
            </a:lvl8pPr>
            <a:lvl9pPr>
              <a:defRPr sz="1575" b="0">
                <a:solidFill>
                  <a:srgbClr val="B95925"/>
                </a:solidFill>
                <a:latin typeface="Arial"/>
                <a:ea typeface="Arial"/>
                <a:cs typeface="Arial"/>
              </a:defRPr>
            </a:lvl9pPr>
          </a:lstStyle>
          <a:p xmlns:a="http://schemas.openxmlformats.org/drawingml/2006/main">
            <a:pPr>
              <a:defRPr sz="1575" b="0">
                <a:solidFill>
                  <a:srgbClr val="B95925"/>
                </a:solidFill>
                <a:latin typeface="Arial"/>
                <a:ea typeface="Arial"/>
                <a:cs typeface="Arial"/>
              </a:defRPr>
            </a:pPr>
            <a:r>
              <a:rPr sz="1575" b="0">
                <a:solidFill>
                  <a:srgbClr val="B95925"/>
                </a:solidFill>
                <a:latin typeface="Arial"/>
                <a:ea typeface="Arial"/>
                <a:cs typeface="Arial"/>
              </a:rPr>
              <a:t>Each query has the same observation vector for all compared methods.</a:t>
            </a:r>
          </a:p>
        </p:txBody>
      </p:sp>
    </p:spTree>
    <p:extLst>
      <p:ext uri="{BB962C8B-B14F-4D97-AF65-F5344CB8AC3E}">
        <p14:creationId xmlns:p14="http://schemas.microsoft.com/office/powerpoint/2010/main" val="2074980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251A22-96D8-4538-A76E-64902370CF94}"/>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Noise model and hidden component</a:t>
            </a:r>
          </a:p>
        </p:txBody>
      </p:sp>
      <p:sp>
        <p:nvSpPr>
          <p:cNvPr id="2" name="">
            <a:extLst xmlns:a="http://schemas.openxmlformats.org/drawingml/2006/main">
              <a:ext uri="{FF2B5EF4-FFF2-40B4-BE49-F238E27FC236}">
                <a16:creationId xmlns:a16="http://schemas.microsoft.com/office/drawing/2014/main" id="{43327F56-8DE8-4E61-83A1-B093D9885195}"/>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F88ECFF2-5515-4E8B-921B-2D7B637659A2}"/>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AFC73ACD-BB20-4B0A-8FB6-2A1990BD8226}"/>
              </a:ext>
            </a:extLst>
          </p:cNvPr>
          <p:cNvSpPr>
            <a:spLocks xmlns:a="http://schemas.openxmlformats.org/drawingml/2006/main" noGrp="1"/>
          </p:cNvSpPr>
          <p:nvPr/>
        </p:nvSpPr>
        <p:spPr>
          <a:xfrm xmlns:a="http://schemas.openxmlformats.org/drawingml/2006/main">
            <a:off x="628650" y="15144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6B87"/>
                </a:solidFill>
                <a:latin typeface="Arial"/>
                <a:ea typeface="Arial"/>
                <a:cs typeface="Arial"/>
              </a:defRPr>
            </a:defPPr>
            <a:lvl1pPr>
              <a:defRPr sz="2625" b="1">
                <a:solidFill>
                  <a:srgbClr val="176B87"/>
                </a:solidFill>
                <a:latin typeface="Arial"/>
                <a:ea typeface="Arial"/>
                <a:cs typeface="Arial"/>
              </a:defRPr>
            </a:lvl1pPr>
            <a:lvl2pPr>
              <a:defRPr sz="2625" b="1">
                <a:solidFill>
                  <a:srgbClr val="176B87"/>
                </a:solidFill>
                <a:latin typeface="Arial"/>
                <a:ea typeface="Arial"/>
                <a:cs typeface="Arial"/>
              </a:defRPr>
            </a:lvl2pPr>
            <a:lvl3pPr>
              <a:defRPr sz="2625" b="1">
                <a:solidFill>
                  <a:srgbClr val="176B87"/>
                </a:solidFill>
                <a:latin typeface="Arial"/>
                <a:ea typeface="Arial"/>
                <a:cs typeface="Arial"/>
              </a:defRPr>
            </a:lvl3pPr>
            <a:lvl4pPr>
              <a:defRPr sz="2625" b="1">
                <a:solidFill>
                  <a:srgbClr val="176B87"/>
                </a:solidFill>
                <a:latin typeface="Arial"/>
                <a:ea typeface="Arial"/>
                <a:cs typeface="Arial"/>
              </a:defRPr>
            </a:lvl4pPr>
            <a:lvl5pPr>
              <a:defRPr sz="2625" b="1">
                <a:solidFill>
                  <a:srgbClr val="176B87"/>
                </a:solidFill>
                <a:latin typeface="Arial"/>
                <a:ea typeface="Arial"/>
                <a:cs typeface="Arial"/>
              </a:defRPr>
            </a:lvl5pPr>
            <a:lvl6pPr>
              <a:defRPr sz="2625" b="1">
                <a:solidFill>
                  <a:srgbClr val="176B87"/>
                </a:solidFill>
                <a:latin typeface="Arial"/>
                <a:ea typeface="Arial"/>
                <a:cs typeface="Arial"/>
              </a:defRPr>
            </a:lvl6pPr>
            <a:lvl7pPr>
              <a:defRPr sz="2625" b="1">
                <a:solidFill>
                  <a:srgbClr val="176B87"/>
                </a:solidFill>
                <a:latin typeface="Arial"/>
                <a:ea typeface="Arial"/>
                <a:cs typeface="Arial"/>
              </a:defRPr>
            </a:lvl7pPr>
            <a:lvl8pPr>
              <a:defRPr sz="2625" b="1">
                <a:solidFill>
                  <a:srgbClr val="176B87"/>
                </a:solidFill>
                <a:latin typeface="Arial"/>
                <a:ea typeface="Arial"/>
                <a:cs typeface="Arial"/>
              </a:defRPr>
            </a:lvl8pPr>
            <a:lvl9pPr>
              <a:defRPr sz="2625" b="1">
                <a:solidFill>
                  <a:srgbClr val="176B87"/>
                </a:solidFill>
                <a:latin typeface="Arial"/>
                <a:ea typeface="Arial"/>
                <a:cs typeface="Arial"/>
              </a:defRPr>
            </a:lvl9pPr>
          </a:lstStyle>
          <a:p xmlns:a="http://schemas.openxmlformats.org/drawingml/2006/main">
            <a:pPr>
              <a:defRPr sz="2625" b="1">
                <a:solidFill>
                  <a:srgbClr val="176B87"/>
                </a:solidFill>
                <a:latin typeface="Arial"/>
                <a:ea typeface="Arial"/>
                <a:cs typeface="Arial"/>
              </a:defRPr>
            </a:pPr>
            <a:r>
              <a:rPr sz="2625" b="1">
                <a:solidFill>
                  <a:srgbClr val="176B87"/>
                </a:solidFill>
                <a:latin typeface="Arial"/>
                <a:ea typeface="Arial"/>
                <a:cs typeface="Arial"/>
              </a:rPr>
              <a:t>f(r) = p N(r; 0, s1^2) + (1 - p) N(r; 0, s2^2)</a:t>
            </a:r>
          </a:p>
        </p:txBody>
      </p:sp>
      <p:graphicFrame>
        <p:nvGraphicFramePr>
          <p:cNvPr id="5" name="">
            <a:extLst xmlns:a="http://schemas.openxmlformats.org/drawingml/2006/main">
              <a:ext uri="{FF2B5EF4-FFF2-40B4-BE49-F238E27FC236}">
                <a16:creationId xmlns:a16="http://schemas.microsoft.com/office/drawing/2014/main" id="{7B1A634E-267D-44EE-96B3-6EEE677E79D3}"/>
              </a:ext>
            </a:extLst>
          </p:cNvPr>
          <p:cNvGraphicFramePr/>
          <p:nvPr/>
        </p:nvGraphicFramePr>
        <p:xfrm>
          <a:off xmlns:a="http://schemas.openxmlformats.org/drawingml/2006/main" x="628650" y="2552700"/>
          <a:ext xmlns:a="http://schemas.openxmlformats.org/drawingml/2006/main" cx="10763250" cy="2409825"/>
        </p:xfrm>
        <a:graphic xmlns:a="http://schemas.openxmlformats.org/drawingml/2006/main">
          <a:graphicData uri="http://schemas.openxmlformats.org/drawingml/2006/table">
            <a:tbl>
              <a:tblPr firstRow="1" bandRow="0"/>
              <a:tblGrid>
                <a:gridCol w="1381125"/>
                <a:gridCol w="6762750"/>
                <a:gridCol w="2619375"/>
              </a:tblGrid>
              <a:tr h="602456">
                <a:tc>
                  <a:txBody>
                    <a:bodyPr/>
                    <a:lstStyle/>
                    <a:p>
                      <a:r>
                        <a:rPr sz="1800" b="1">
                          <a:solidFill>
                            <a:srgbClr val="FFFFFF"/>
                          </a:solidFill>
                          <a:latin typeface="Arial"/>
                          <a:ea typeface="Arial"/>
                          <a:cs typeface="Arial"/>
                        </a:rPr>
                        <a:t>Unknown</a:t>
                      </a:r>
                    </a:p>
                  </a:txBody>
                  <a:tcPr marL="114300" marR="114300" marT="95250" marB="95250" anchor="ctr">
                    <a:lnL w="9525">
                      <a:solidFill>
                        <a:srgbClr val="D7E0E7"/>
                      </a:solidFill>
                      <a:prstDash val="solid"/>
                    </a:lnL>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c>
                  <a:txBody>
                    <a:bodyPr/>
                    <a:lstStyle/>
                    <a:p>
                      <a:r>
                        <a:rPr sz="1800" b="1">
                          <a:solidFill>
                            <a:srgbClr val="FFFFFF"/>
                          </a:solidFill>
                          <a:latin typeface="Arial"/>
                          <a:ea typeface="Arial"/>
                          <a:cs typeface="Arial"/>
                        </a:rPr>
                        <a:t>Meaning</a:t>
                      </a:r>
                    </a:p>
                  </a:txBody>
                  <a:tcPr marL="114300" marR="114300" marT="95250" marB="95250" anchor="ctr">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c>
                  <a:txBody>
                    <a:bodyPr/>
                    <a:lstStyle/>
                    <a:p>
                      <a:r>
                        <a:rPr sz="1800" b="1">
                          <a:solidFill>
                            <a:srgbClr val="FFFFFF"/>
                          </a:solidFill>
                          <a:latin typeface="Arial"/>
                          <a:ea typeface="Arial"/>
                          <a:cs typeface="Arial"/>
                        </a:rPr>
                        <a:t>Generating value</a:t>
                      </a:r>
                    </a:p>
                  </a:txBody>
                  <a:tcPr marL="114300" marR="114300" marT="95250" marB="95250" anchor="ctr">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r>
              <a:tr h="602456">
                <a:tc>
                  <a:txBody>
                    <a:bodyPr/>
                    <a:lstStyle/>
                    <a:p>
                      <a:r>
                        <a:rPr sz="1800" b="0">
                          <a:solidFill>
                            <a:srgbClr val="17324D"/>
                          </a:solidFill>
                          <a:latin typeface="Arial"/>
                          <a:ea typeface="Arial"/>
                          <a:cs typeface="Arial"/>
                        </a:rPr>
                        <a:t>p</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Probability of the narrow component</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0.548</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r>
              <a:tr h="602456">
                <a:tc>
                  <a:txBody>
                    <a:bodyPr/>
                    <a:lstStyle/>
                    <a:p>
                      <a:r>
                        <a:rPr sz="1800" b="0">
                          <a:solidFill>
                            <a:srgbClr val="17324D"/>
                          </a:solidFill>
                          <a:latin typeface="Arial"/>
                          <a:ea typeface="Arial"/>
                          <a:cs typeface="Arial"/>
                        </a:rPr>
                        <a:t>s1</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EAF1F5"/>
                    </a:solidFill>
                  </a:tcPr>
                </a:tc>
                <a:tc>
                  <a:txBody>
                    <a:bodyPr/>
                    <a:lstStyle/>
                    <a:p>
                      <a:r>
                        <a:rPr sz="1800" b="0">
                          <a:solidFill>
                            <a:srgbClr val="17324D"/>
                          </a:solidFill>
                          <a:latin typeface="Arial"/>
                          <a:ea typeface="Arial"/>
                          <a:cs typeface="Arial"/>
                        </a:rPr>
                        <a:t>Narrow-component standard deviation</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c>
                  <a:txBody>
                    <a:bodyPr/>
                    <a:lstStyle/>
                    <a:p>
                      <a:r>
                        <a:rPr sz="1800" b="0">
                          <a:solidFill>
                            <a:srgbClr val="17324D"/>
                          </a:solidFill>
                          <a:latin typeface="Arial"/>
                          <a:ea typeface="Arial"/>
                          <a:cs typeface="Arial"/>
                        </a:rPr>
                        <a:t>0.971 dB</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r>
              <a:tr h="602456">
                <a:tc>
                  <a:txBody>
                    <a:bodyPr/>
                    <a:lstStyle/>
                    <a:p>
                      <a:r>
                        <a:rPr sz="1800" b="0">
                          <a:solidFill>
                            <a:srgbClr val="17324D"/>
                          </a:solidFill>
                          <a:latin typeface="Arial"/>
                          <a:ea typeface="Arial"/>
                          <a:cs typeface="Arial"/>
                        </a:rPr>
                        <a:t>s2</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Wide-component standard deviation</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3.003 dB</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3E0D50F-FE0B-4DD9-80B3-455CCFAAAB83}"/>
              </a:ext>
            </a:extLst>
          </p:cNvPr>
          <p:cNvSpPr>
            <a:spLocks xmlns:a="http://schemas.openxmlformats.org/drawingml/2006/main" noGrp="1"/>
          </p:cNvSpPr>
          <p:nvPr/>
        </p:nvSpPr>
        <p:spPr>
          <a:xfrm xmlns:a="http://schemas.openxmlformats.org/drawingml/2006/main">
            <a:off x="628650" y="524827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24D"/>
                </a:solidFill>
                <a:latin typeface="Arial"/>
                <a:ea typeface="Arial"/>
                <a:cs typeface="Arial"/>
              </a:defRPr>
            </a:defPPr>
            <a:lvl1pPr>
              <a:defRPr sz="2025" b="0">
                <a:solidFill>
                  <a:srgbClr val="17324D"/>
                </a:solidFill>
                <a:latin typeface="Arial"/>
                <a:ea typeface="Arial"/>
                <a:cs typeface="Arial"/>
              </a:defRPr>
            </a:lvl1pPr>
            <a:lvl2pPr>
              <a:defRPr sz="2025" b="0">
                <a:solidFill>
                  <a:srgbClr val="17324D"/>
                </a:solidFill>
                <a:latin typeface="Arial"/>
                <a:ea typeface="Arial"/>
                <a:cs typeface="Arial"/>
              </a:defRPr>
            </a:lvl2pPr>
            <a:lvl3pPr>
              <a:defRPr sz="2025" b="0">
                <a:solidFill>
                  <a:srgbClr val="17324D"/>
                </a:solidFill>
                <a:latin typeface="Arial"/>
                <a:ea typeface="Arial"/>
                <a:cs typeface="Arial"/>
              </a:defRPr>
            </a:lvl3pPr>
            <a:lvl4pPr>
              <a:defRPr sz="2025" b="0">
                <a:solidFill>
                  <a:srgbClr val="17324D"/>
                </a:solidFill>
                <a:latin typeface="Arial"/>
                <a:ea typeface="Arial"/>
                <a:cs typeface="Arial"/>
              </a:defRPr>
            </a:lvl4pPr>
            <a:lvl5pPr>
              <a:defRPr sz="2025" b="0">
                <a:solidFill>
                  <a:srgbClr val="17324D"/>
                </a:solidFill>
                <a:latin typeface="Arial"/>
                <a:ea typeface="Arial"/>
                <a:cs typeface="Arial"/>
              </a:defRPr>
            </a:lvl5pPr>
            <a:lvl6pPr>
              <a:defRPr sz="2025" b="0">
                <a:solidFill>
                  <a:srgbClr val="17324D"/>
                </a:solidFill>
                <a:latin typeface="Arial"/>
                <a:ea typeface="Arial"/>
                <a:cs typeface="Arial"/>
              </a:defRPr>
            </a:lvl6pPr>
            <a:lvl7pPr>
              <a:defRPr sz="2025" b="0">
                <a:solidFill>
                  <a:srgbClr val="17324D"/>
                </a:solidFill>
                <a:latin typeface="Arial"/>
                <a:ea typeface="Arial"/>
                <a:cs typeface="Arial"/>
              </a:defRPr>
            </a:lvl7pPr>
            <a:lvl8pPr>
              <a:defRPr sz="2025" b="0">
                <a:solidFill>
                  <a:srgbClr val="17324D"/>
                </a:solidFill>
                <a:latin typeface="Arial"/>
                <a:ea typeface="Arial"/>
                <a:cs typeface="Arial"/>
              </a:defRPr>
            </a:lvl8pPr>
            <a:lvl9pPr>
              <a:defRPr sz="2025" b="0">
                <a:solidFill>
                  <a:srgbClr val="17324D"/>
                </a:solidFill>
                <a:latin typeface="Arial"/>
                <a:ea typeface="Arial"/>
                <a:cs typeface="Arial"/>
              </a:defRPr>
            </a:lvl9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Observed: residual r in dB</a:t>
            </a:r>
          </a:p>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Hidden: which Gaussian generated that residual</a:t>
            </a:r>
          </a:p>
        </p:txBody>
      </p:sp>
    </p:spTree>
    <p:extLst>
      <p:ext uri="{BB962C8B-B14F-4D97-AF65-F5344CB8AC3E}">
        <p14:creationId xmlns:p14="http://schemas.microsoft.com/office/powerpoint/2010/main" val="11389223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098F45-5798-483C-B29F-2237DDA1E771}"/>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EM updates</a:t>
            </a:r>
          </a:p>
        </p:txBody>
      </p:sp>
      <p:sp>
        <p:nvSpPr>
          <p:cNvPr id="2" name="">
            <a:extLst xmlns:a="http://schemas.openxmlformats.org/drawingml/2006/main">
              <a:ext uri="{FF2B5EF4-FFF2-40B4-BE49-F238E27FC236}">
                <a16:creationId xmlns:a16="http://schemas.microsoft.com/office/drawing/2014/main" id="{D5F41F56-A569-4249-840A-382FBA8D68CA}"/>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04CBF311-EE04-46AC-9D9A-1FC617C70B92}"/>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E87A78E-6FB0-4E0C-9317-6BE89D8EEDFB}"/>
              </a:ext>
            </a:extLst>
          </p:cNvPr>
          <p:cNvSpPr>
            <a:spLocks xmlns:a="http://schemas.openxmlformats.org/drawingml/2006/main" noGrp="1"/>
          </p:cNvSpPr>
          <p:nvPr/>
        </p:nvSpPr>
        <p:spPr>
          <a:xfrm xmlns:a="http://schemas.openxmlformats.org/drawingml/2006/main">
            <a:off x="628650" y="14287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6B87"/>
                </a:solidFill>
                <a:latin typeface="Arial"/>
                <a:ea typeface="Arial"/>
                <a:cs typeface="Arial"/>
              </a:defRPr>
            </a:defPPr>
            <a:lvl1pPr>
              <a:defRPr sz="2250" b="1">
                <a:solidFill>
                  <a:srgbClr val="176B87"/>
                </a:solidFill>
                <a:latin typeface="Arial"/>
                <a:ea typeface="Arial"/>
                <a:cs typeface="Arial"/>
              </a:defRPr>
            </a:lvl1pPr>
            <a:lvl2pPr>
              <a:defRPr sz="2250" b="1">
                <a:solidFill>
                  <a:srgbClr val="176B87"/>
                </a:solidFill>
                <a:latin typeface="Arial"/>
                <a:ea typeface="Arial"/>
                <a:cs typeface="Arial"/>
              </a:defRPr>
            </a:lvl2pPr>
            <a:lvl3pPr>
              <a:defRPr sz="2250" b="1">
                <a:solidFill>
                  <a:srgbClr val="176B87"/>
                </a:solidFill>
                <a:latin typeface="Arial"/>
                <a:ea typeface="Arial"/>
                <a:cs typeface="Arial"/>
              </a:defRPr>
            </a:lvl3pPr>
            <a:lvl4pPr>
              <a:defRPr sz="2250" b="1">
                <a:solidFill>
                  <a:srgbClr val="176B87"/>
                </a:solidFill>
                <a:latin typeface="Arial"/>
                <a:ea typeface="Arial"/>
                <a:cs typeface="Arial"/>
              </a:defRPr>
            </a:lvl4pPr>
            <a:lvl5pPr>
              <a:defRPr sz="2250" b="1">
                <a:solidFill>
                  <a:srgbClr val="176B87"/>
                </a:solidFill>
                <a:latin typeface="Arial"/>
                <a:ea typeface="Arial"/>
                <a:cs typeface="Arial"/>
              </a:defRPr>
            </a:lvl5pPr>
            <a:lvl6pPr>
              <a:defRPr sz="2250" b="1">
                <a:solidFill>
                  <a:srgbClr val="176B87"/>
                </a:solidFill>
                <a:latin typeface="Arial"/>
                <a:ea typeface="Arial"/>
                <a:cs typeface="Arial"/>
              </a:defRPr>
            </a:lvl6pPr>
            <a:lvl7pPr>
              <a:defRPr sz="2250" b="1">
                <a:solidFill>
                  <a:srgbClr val="176B87"/>
                </a:solidFill>
                <a:latin typeface="Arial"/>
                <a:ea typeface="Arial"/>
                <a:cs typeface="Arial"/>
              </a:defRPr>
            </a:lvl7pPr>
            <a:lvl8pPr>
              <a:defRPr sz="2250" b="1">
                <a:solidFill>
                  <a:srgbClr val="176B87"/>
                </a:solidFill>
                <a:latin typeface="Arial"/>
                <a:ea typeface="Arial"/>
                <a:cs typeface="Arial"/>
              </a:defRPr>
            </a:lvl8pPr>
            <a:lvl9pPr>
              <a:defRPr sz="2250" b="1">
                <a:solidFill>
                  <a:srgbClr val="176B87"/>
                </a:solidFill>
                <a:latin typeface="Arial"/>
                <a:ea typeface="Arial"/>
                <a:cs typeface="Arial"/>
              </a:defRPr>
            </a:lvl9pPr>
          </a:lstStyle>
          <a:p xmlns:a="http://schemas.openxmlformats.org/drawingml/2006/main">
            <a:pPr>
              <a:defRPr sz="2250" b="1">
                <a:solidFill>
                  <a:srgbClr val="176B87"/>
                </a:solidFill>
                <a:latin typeface="Arial"/>
                <a:ea typeface="Arial"/>
                <a:cs typeface="Arial"/>
              </a:defRPr>
            </a:pPr>
            <a:r>
              <a:rPr sz="2250" b="1">
                <a:solidFill>
                  <a:srgbClr val="176B87"/>
                </a:solidFill>
                <a:latin typeface="Arial"/>
                <a:ea typeface="Arial"/>
                <a:cs typeface="Arial"/>
              </a:rPr>
              <a:t>E-step: soft component assignment</a:t>
            </a:r>
          </a:p>
        </p:txBody>
      </p:sp>
      <p:sp>
        <p:nvSpPr>
          <p:cNvPr id="5" name="">
            <a:extLst xmlns:a="http://schemas.openxmlformats.org/drawingml/2006/main">
              <a:ext uri="{FF2B5EF4-FFF2-40B4-BE49-F238E27FC236}">
                <a16:creationId xmlns:a16="http://schemas.microsoft.com/office/drawing/2014/main" id="{45A25D04-5951-45E5-9F65-FF00B5764FE7}"/>
              </a:ext>
            </a:extLst>
          </p:cNvPr>
          <p:cNvSpPr>
            <a:spLocks xmlns:a="http://schemas.openxmlformats.org/drawingml/2006/main" noGrp="1"/>
          </p:cNvSpPr>
          <p:nvPr/>
        </p:nvSpPr>
        <p:spPr>
          <a:xfrm xmlns:a="http://schemas.openxmlformats.org/drawingml/2006/main">
            <a:off x="628650" y="2047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324D"/>
                </a:solidFill>
                <a:latin typeface="Arial"/>
                <a:ea typeface="Arial"/>
                <a:cs typeface="Arial"/>
              </a:defRPr>
            </a:defPPr>
            <a:lvl1pPr>
              <a:defRPr sz="2175" b="0">
                <a:solidFill>
                  <a:srgbClr val="17324D"/>
                </a:solidFill>
                <a:latin typeface="Arial"/>
                <a:ea typeface="Arial"/>
                <a:cs typeface="Arial"/>
              </a:defRPr>
            </a:lvl1pPr>
            <a:lvl2pPr>
              <a:defRPr sz="2175" b="0">
                <a:solidFill>
                  <a:srgbClr val="17324D"/>
                </a:solidFill>
                <a:latin typeface="Arial"/>
                <a:ea typeface="Arial"/>
                <a:cs typeface="Arial"/>
              </a:defRPr>
            </a:lvl2pPr>
            <a:lvl3pPr>
              <a:defRPr sz="2175" b="0">
                <a:solidFill>
                  <a:srgbClr val="17324D"/>
                </a:solidFill>
                <a:latin typeface="Arial"/>
                <a:ea typeface="Arial"/>
                <a:cs typeface="Arial"/>
              </a:defRPr>
            </a:lvl3pPr>
            <a:lvl4pPr>
              <a:defRPr sz="2175" b="0">
                <a:solidFill>
                  <a:srgbClr val="17324D"/>
                </a:solidFill>
                <a:latin typeface="Arial"/>
                <a:ea typeface="Arial"/>
                <a:cs typeface="Arial"/>
              </a:defRPr>
            </a:lvl4pPr>
            <a:lvl5pPr>
              <a:defRPr sz="2175" b="0">
                <a:solidFill>
                  <a:srgbClr val="17324D"/>
                </a:solidFill>
                <a:latin typeface="Arial"/>
                <a:ea typeface="Arial"/>
                <a:cs typeface="Arial"/>
              </a:defRPr>
            </a:lvl5pPr>
            <a:lvl6pPr>
              <a:defRPr sz="2175" b="0">
                <a:solidFill>
                  <a:srgbClr val="17324D"/>
                </a:solidFill>
                <a:latin typeface="Arial"/>
                <a:ea typeface="Arial"/>
                <a:cs typeface="Arial"/>
              </a:defRPr>
            </a:lvl6pPr>
            <a:lvl7pPr>
              <a:defRPr sz="2175" b="0">
                <a:solidFill>
                  <a:srgbClr val="17324D"/>
                </a:solidFill>
                <a:latin typeface="Arial"/>
                <a:ea typeface="Arial"/>
                <a:cs typeface="Arial"/>
              </a:defRPr>
            </a:lvl7pPr>
            <a:lvl8pPr>
              <a:defRPr sz="2175" b="0">
                <a:solidFill>
                  <a:srgbClr val="17324D"/>
                </a:solidFill>
                <a:latin typeface="Arial"/>
                <a:ea typeface="Arial"/>
                <a:cs typeface="Arial"/>
              </a:defRPr>
            </a:lvl8pPr>
            <a:lvl9pPr>
              <a:defRPr sz="2175" b="0">
                <a:solidFill>
                  <a:srgbClr val="17324D"/>
                </a:solidFill>
                <a:latin typeface="Arial"/>
                <a:ea typeface="Arial"/>
                <a:cs typeface="Arial"/>
              </a:defRPr>
            </a:lvl9pPr>
          </a:lstStyle>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tau_i = p phi(r_i; s1) / [p phi(r_i; s1) + (1-p) phi(r_i; s2)]</a:t>
            </a:r>
          </a:p>
        </p:txBody>
      </p:sp>
      <p:sp>
        <p:nvSpPr>
          <p:cNvPr id="6" name="">
            <a:extLst xmlns:a="http://schemas.openxmlformats.org/drawingml/2006/main">
              <a:ext uri="{FF2B5EF4-FFF2-40B4-BE49-F238E27FC236}">
                <a16:creationId xmlns:a16="http://schemas.microsoft.com/office/drawing/2014/main" id="{D3AE5345-08F8-47A9-9AE4-0B1CF9DCCF77}"/>
              </a:ext>
            </a:extLst>
          </p:cNvPr>
          <p:cNvSpPr>
            <a:spLocks xmlns:a="http://schemas.openxmlformats.org/drawingml/2006/main" noGrp="1"/>
          </p:cNvSpPr>
          <p:nvPr/>
        </p:nvSpPr>
        <p:spPr>
          <a:xfrm xmlns:a="http://schemas.openxmlformats.org/drawingml/2006/main">
            <a:off x="628650" y="29813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6B87"/>
                </a:solidFill>
                <a:latin typeface="Arial"/>
                <a:ea typeface="Arial"/>
                <a:cs typeface="Arial"/>
              </a:defRPr>
            </a:defPPr>
            <a:lvl1pPr>
              <a:defRPr sz="2250" b="1">
                <a:solidFill>
                  <a:srgbClr val="176B87"/>
                </a:solidFill>
                <a:latin typeface="Arial"/>
                <a:ea typeface="Arial"/>
                <a:cs typeface="Arial"/>
              </a:defRPr>
            </a:lvl1pPr>
            <a:lvl2pPr>
              <a:defRPr sz="2250" b="1">
                <a:solidFill>
                  <a:srgbClr val="176B87"/>
                </a:solidFill>
                <a:latin typeface="Arial"/>
                <a:ea typeface="Arial"/>
                <a:cs typeface="Arial"/>
              </a:defRPr>
            </a:lvl2pPr>
            <a:lvl3pPr>
              <a:defRPr sz="2250" b="1">
                <a:solidFill>
                  <a:srgbClr val="176B87"/>
                </a:solidFill>
                <a:latin typeface="Arial"/>
                <a:ea typeface="Arial"/>
                <a:cs typeface="Arial"/>
              </a:defRPr>
            </a:lvl3pPr>
            <a:lvl4pPr>
              <a:defRPr sz="2250" b="1">
                <a:solidFill>
                  <a:srgbClr val="176B87"/>
                </a:solidFill>
                <a:latin typeface="Arial"/>
                <a:ea typeface="Arial"/>
                <a:cs typeface="Arial"/>
              </a:defRPr>
            </a:lvl4pPr>
            <a:lvl5pPr>
              <a:defRPr sz="2250" b="1">
                <a:solidFill>
                  <a:srgbClr val="176B87"/>
                </a:solidFill>
                <a:latin typeface="Arial"/>
                <a:ea typeface="Arial"/>
                <a:cs typeface="Arial"/>
              </a:defRPr>
            </a:lvl5pPr>
            <a:lvl6pPr>
              <a:defRPr sz="2250" b="1">
                <a:solidFill>
                  <a:srgbClr val="176B87"/>
                </a:solidFill>
                <a:latin typeface="Arial"/>
                <a:ea typeface="Arial"/>
                <a:cs typeface="Arial"/>
              </a:defRPr>
            </a:lvl6pPr>
            <a:lvl7pPr>
              <a:defRPr sz="2250" b="1">
                <a:solidFill>
                  <a:srgbClr val="176B87"/>
                </a:solidFill>
                <a:latin typeface="Arial"/>
                <a:ea typeface="Arial"/>
                <a:cs typeface="Arial"/>
              </a:defRPr>
            </a:lvl7pPr>
            <a:lvl8pPr>
              <a:defRPr sz="2250" b="1">
                <a:solidFill>
                  <a:srgbClr val="176B87"/>
                </a:solidFill>
                <a:latin typeface="Arial"/>
                <a:ea typeface="Arial"/>
                <a:cs typeface="Arial"/>
              </a:defRPr>
            </a:lvl8pPr>
            <a:lvl9pPr>
              <a:defRPr sz="2250" b="1">
                <a:solidFill>
                  <a:srgbClr val="176B87"/>
                </a:solidFill>
                <a:latin typeface="Arial"/>
                <a:ea typeface="Arial"/>
                <a:cs typeface="Arial"/>
              </a:defRPr>
            </a:lvl9pPr>
          </a:lstStyle>
          <a:p xmlns:a="http://schemas.openxmlformats.org/drawingml/2006/main">
            <a:pPr>
              <a:defRPr sz="2250" b="1">
                <a:solidFill>
                  <a:srgbClr val="176B87"/>
                </a:solidFill>
                <a:latin typeface="Arial"/>
                <a:ea typeface="Arial"/>
                <a:cs typeface="Arial"/>
              </a:defRPr>
            </a:pPr>
            <a:r>
              <a:rPr sz="2250" b="1">
                <a:solidFill>
                  <a:srgbClr val="176B87"/>
                </a:solidFill>
                <a:latin typeface="Arial"/>
                <a:ea typeface="Arial"/>
                <a:cs typeface="Arial"/>
              </a:rPr>
              <a:t>M-step: weighted estimates</a:t>
            </a:r>
          </a:p>
        </p:txBody>
      </p:sp>
      <p:sp>
        <p:nvSpPr>
          <p:cNvPr id="7" name="">
            <a:extLst xmlns:a="http://schemas.openxmlformats.org/drawingml/2006/main">
              <a:ext uri="{FF2B5EF4-FFF2-40B4-BE49-F238E27FC236}">
                <a16:creationId xmlns:a16="http://schemas.microsoft.com/office/drawing/2014/main" id="{8CC70F07-64CE-49DD-B47D-9B07F06FB4C1}"/>
              </a:ext>
            </a:extLst>
          </p:cNvPr>
          <p:cNvSpPr>
            <a:spLocks xmlns:a="http://schemas.openxmlformats.org/drawingml/2006/main" noGrp="1"/>
          </p:cNvSpPr>
          <p:nvPr/>
        </p:nvSpPr>
        <p:spPr>
          <a:xfrm xmlns:a="http://schemas.openxmlformats.org/drawingml/2006/main">
            <a:off x="628650" y="3571875"/>
            <a:ext cx="10763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324D"/>
                </a:solidFill>
                <a:latin typeface="Arial"/>
                <a:ea typeface="Arial"/>
                <a:cs typeface="Arial"/>
              </a:defRPr>
            </a:defPPr>
            <a:lvl1pPr>
              <a:defRPr sz="2175" b="0">
                <a:solidFill>
                  <a:srgbClr val="17324D"/>
                </a:solidFill>
                <a:latin typeface="Arial"/>
                <a:ea typeface="Arial"/>
                <a:cs typeface="Arial"/>
              </a:defRPr>
            </a:lvl1pPr>
            <a:lvl2pPr>
              <a:defRPr sz="2175" b="0">
                <a:solidFill>
                  <a:srgbClr val="17324D"/>
                </a:solidFill>
                <a:latin typeface="Arial"/>
                <a:ea typeface="Arial"/>
                <a:cs typeface="Arial"/>
              </a:defRPr>
            </a:lvl2pPr>
            <a:lvl3pPr>
              <a:defRPr sz="2175" b="0">
                <a:solidFill>
                  <a:srgbClr val="17324D"/>
                </a:solidFill>
                <a:latin typeface="Arial"/>
                <a:ea typeface="Arial"/>
                <a:cs typeface="Arial"/>
              </a:defRPr>
            </a:lvl3pPr>
            <a:lvl4pPr>
              <a:defRPr sz="2175" b="0">
                <a:solidFill>
                  <a:srgbClr val="17324D"/>
                </a:solidFill>
                <a:latin typeface="Arial"/>
                <a:ea typeface="Arial"/>
                <a:cs typeface="Arial"/>
              </a:defRPr>
            </a:lvl4pPr>
            <a:lvl5pPr>
              <a:defRPr sz="2175" b="0">
                <a:solidFill>
                  <a:srgbClr val="17324D"/>
                </a:solidFill>
                <a:latin typeface="Arial"/>
                <a:ea typeface="Arial"/>
                <a:cs typeface="Arial"/>
              </a:defRPr>
            </a:lvl5pPr>
            <a:lvl6pPr>
              <a:defRPr sz="2175" b="0">
                <a:solidFill>
                  <a:srgbClr val="17324D"/>
                </a:solidFill>
                <a:latin typeface="Arial"/>
                <a:ea typeface="Arial"/>
                <a:cs typeface="Arial"/>
              </a:defRPr>
            </a:lvl6pPr>
            <a:lvl7pPr>
              <a:defRPr sz="2175" b="0">
                <a:solidFill>
                  <a:srgbClr val="17324D"/>
                </a:solidFill>
                <a:latin typeface="Arial"/>
                <a:ea typeface="Arial"/>
                <a:cs typeface="Arial"/>
              </a:defRPr>
            </a:lvl7pPr>
            <a:lvl8pPr>
              <a:defRPr sz="2175" b="0">
                <a:solidFill>
                  <a:srgbClr val="17324D"/>
                </a:solidFill>
                <a:latin typeface="Arial"/>
                <a:ea typeface="Arial"/>
                <a:cs typeface="Arial"/>
              </a:defRPr>
            </a:lvl8pPr>
            <a:lvl9pPr>
              <a:defRPr sz="2175" b="0">
                <a:solidFill>
                  <a:srgbClr val="17324D"/>
                </a:solidFill>
                <a:latin typeface="Arial"/>
                <a:ea typeface="Arial"/>
                <a:cs typeface="Arial"/>
              </a:defRPr>
            </a:lvl9pPr>
          </a:lstStyle>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p_new = sum(tau_i) / N</a:t>
            </a:r>
          </a:p>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s1_new^2 = sum(tau_i r_i^2) / sum(tau_i)</a:t>
            </a:r>
          </a:p>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s2_new^2 = sum((1-tau_i) r_i^2) / sum(1-tau_i)</a:t>
            </a:r>
          </a:p>
        </p:txBody>
      </p:sp>
      <p:sp>
        <p:nvSpPr>
          <p:cNvPr id="8" name="">
            <a:extLst xmlns:a="http://schemas.openxmlformats.org/drawingml/2006/main">
              <a:ext uri="{FF2B5EF4-FFF2-40B4-BE49-F238E27FC236}">
                <a16:creationId xmlns:a16="http://schemas.microsoft.com/office/drawing/2014/main" id="{DBF968B4-D6BE-4D3B-921F-2357CA2B0BE8}"/>
              </a:ext>
            </a:extLst>
          </p:cNvPr>
          <p:cNvSpPr>
            <a:spLocks xmlns:a="http://schemas.openxmlformats.org/drawingml/2006/main" noGrp="1"/>
          </p:cNvSpPr>
          <p:nvPr/>
        </p:nvSpPr>
        <p:spPr>
          <a:xfrm xmlns:a="http://schemas.openxmlformats.org/drawingml/2006/main">
            <a:off x="628650" y="55721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95925"/>
                </a:solidFill>
                <a:latin typeface="Arial"/>
                <a:ea typeface="Arial"/>
                <a:cs typeface="Arial"/>
              </a:defRPr>
            </a:defPPr>
            <a:lvl1pPr>
              <a:defRPr sz="1575" b="0">
                <a:solidFill>
                  <a:srgbClr val="B95925"/>
                </a:solidFill>
                <a:latin typeface="Arial"/>
                <a:ea typeface="Arial"/>
                <a:cs typeface="Arial"/>
              </a:defRPr>
            </a:lvl1pPr>
            <a:lvl2pPr>
              <a:defRPr sz="1575" b="0">
                <a:solidFill>
                  <a:srgbClr val="B95925"/>
                </a:solidFill>
                <a:latin typeface="Arial"/>
                <a:ea typeface="Arial"/>
                <a:cs typeface="Arial"/>
              </a:defRPr>
            </a:lvl2pPr>
            <a:lvl3pPr>
              <a:defRPr sz="1575" b="0">
                <a:solidFill>
                  <a:srgbClr val="B95925"/>
                </a:solidFill>
                <a:latin typeface="Arial"/>
                <a:ea typeface="Arial"/>
                <a:cs typeface="Arial"/>
              </a:defRPr>
            </a:lvl3pPr>
            <a:lvl4pPr>
              <a:defRPr sz="1575" b="0">
                <a:solidFill>
                  <a:srgbClr val="B95925"/>
                </a:solidFill>
                <a:latin typeface="Arial"/>
                <a:ea typeface="Arial"/>
                <a:cs typeface="Arial"/>
              </a:defRPr>
            </a:lvl4pPr>
            <a:lvl5pPr>
              <a:defRPr sz="1575" b="0">
                <a:solidFill>
                  <a:srgbClr val="B95925"/>
                </a:solidFill>
                <a:latin typeface="Arial"/>
                <a:ea typeface="Arial"/>
                <a:cs typeface="Arial"/>
              </a:defRPr>
            </a:lvl5pPr>
            <a:lvl6pPr>
              <a:defRPr sz="1575" b="0">
                <a:solidFill>
                  <a:srgbClr val="B95925"/>
                </a:solidFill>
                <a:latin typeface="Arial"/>
                <a:ea typeface="Arial"/>
                <a:cs typeface="Arial"/>
              </a:defRPr>
            </a:lvl6pPr>
            <a:lvl7pPr>
              <a:defRPr sz="1575" b="0">
                <a:solidFill>
                  <a:srgbClr val="B95925"/>
                </a:solidFill>
                <a:latin typeface="Arial"/>
                <a:ea typeface="Arial"/>
                <a:cs typeface="Arial"/>
              </a:defRPr>
            </a:lvl7pPr>
            <a:lvl8pPr>
              <a:defRPr sz="1575" b="0">
                <a:solidFill>
                  <a:srgbClr val="B95925"/>
                </a:solidFill>
                <a:latin typeface="Arial"/>
                <a:ea typeface="Arial"/>
                <a:cs typeface="Arial"/>
              </a:defRPr>
            </a:lvl8pPr>
            <a:lvl9pPr>
              <a:defRPr sz="1575" b="0">
                <a:solidFill>
                  <a:srgbClr val="B95925"/>
                </a:solidFill>
                <a:latin typeface="Arial"/>
                <a:ea typeface="Arial"/>
                <a:cs typeface="Arial"/>
              </a:defRPr>
            </a:lvl9pPr>
          </a:lstStyle>
          <a:p xmlns:a="http://schemas.openxmlformats.org/drawingml/2006/main">
            <a:pPr>
              <a:defRPr sz="1575" b="0">
                <a:solidFill>
                  <a:srgbClr val="B95925"/>
                </a:solidFill>
                <a:latin typeface="Arial"/>
                <a:ea typeface="Arial"/>
                <a:cs typeface="Arial"/>
              </a:defRPr>
            </a:pPr>
            <a:r>
              <a:rPr sz="1575" b="0">
                <a:solidFill>
                  <a:srgbClr val="B95925"/>
                </a:solidFill>
                <a:latin typeface="Arial"/>
                <a:ea typeface="Arial"/>
                <a:cs typeface="Arial"/>
              </a:rPr>
              <a:t>phi(r; s) is the N(0, s^2) density. Stop at relative change &lt; 1e-7 or 500 iterations.</a:t>
            </a:r>
          </a:p>
        </p:txBody>
      </p:sp>
    </p:spTree>
    <p:extLst>
      <p:ext uri="{BB962C8B-B14F-4D97-AF65-F5344CB8AC3E}">
        <p14:creationId xmlns:p14="http://schemas.microsoft.com/office/powerpoint/2010/main" val="5240516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7EF4A5-3D9D-4A2D-B1FC-961B372D79E4}"/>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One EM iteration by hand</a:t>
            </a:r>
          </a:p>
        </p:txBody>
      </p:sp>
      <p:sp>
        <p:nvSpPr>
          <p:cNvPr id="2" name="">
            <a:extLst xmlns:a="http://schemas.openxmlformats.org/drawingml/2006/main">
              <a:ext uri="{FF2B5EF4-FFF2-40B4-BE49-F238E27FC236}">
                <a16:creationId xmlns:a16="http://schemas.microsoft.com/office/drawing/2014/main" id="{1DB876F3-F989-489C-87FC-9352A88B2FE9}"/>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651B8EC5-EF6C-415F-9CD5-14BA756A2764}"/>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54825CA4-80B0-477D-9F41-DB3C91CADC25}"/>
              </a:ext>
            </a:extLst>
          </p:cNvPr>
          <p:cNvSpPr>
            <a:spLocks xmlns:a="http://schemas.openxmlformats.org/drawingml/2006/main" noGrp="1"/>
          </p:cNvSpPr>
          <p:nvPr/>
        </p:nvSpPr>
        <p:spPr>
          <a:xfrm xmlns:a="http://schemas.openxmlformats.org/drawingml/2006/main">
            <a:off x="628650" y="14001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6B87"/>
                </a:solidFill>
                <a:latin typeface="Arial"/>
                <a:ea typeface="Arial"/>
                <a:cs typeface="Arial"/>
              </a:defRPr>
            </a:defPPr>
            <a:lvl1pPr>
              <a:defRPr sz="2100" b="1">
                <a:solidFill>
                  <a:srgbClr val="176B87"/>
                </a:solidFill>
                <a:latin typeface="Arial"/>
                <a:ea typeface="Arial"/>
                <a:cs typeface="Arial"/>
              </a:defRPr>
            </a:lvl1pPr>
            <a:lvl2pPr>
              <a:defRPr sz="2100" b="1">
                <a:solidFill>
                  <a:srgbClr val="176B87"/>
                </a:solidFill>
                <a:latin typeface="Arial"/>
                <a:ea typeface="Arial"/>
                <a:cs typeface="Arial"/>
              </a:defRPr>
            </a:lvl2pPr>
            <a:lvl3pPr>
              <a:defRPr sz="2100" b="1">
                <a:solidFill>
                  <a:srgbClr val="176B87"/>
                </a:solidFill>
                <a:latin typeface="Arial"/>
                <a:ea typeface="Arial"/>
                <a:cs typeface="Arial"/>
              </a:defRPr>
            </a:lvl3pPr>
            <a:lvl4pPr>
              <a:defRPr sz="2100" b="1">
                <a:solidFill>
                  <a:srgbClr val="176B87"/>
                </a:solidFill>
                <a:latin typeface="Arial"/>
                <a:ea typeface="Arial"/>
                <a:cs typeface="Arial"/>
              </a:defRPr>
            </a:lvl4pPr>
            <a:lvl5pPr>
              <a:defRPr sz="2100" b="1">
                <a:solidFill>
                  <a:srgbClr val="176B87"/>
                </a:solidFill>
                <a:latin typeface="Arial"/>
                <a:ea typeface="Arial"/>
                <a:cs typeface="Arial"/>
              </a:defRPr>
            </a:lvl5pPr>
            <a:lvl6pPr>
              <a:defRPr sz="2100" b="1">
                <a:solidFill>
                  <a:srgbClr val="176B87"/>
                </a:solidFill>
                <a:latin typeface="Arial"/>
                <a:ea typeface="Arial"/>
                <a:cs typeface="Arial"/>
              </a:defRPr>
            </a:lvl6pPr>
            <a:lvl7pPr>
              <a:defRPr sz="2100" b="1">
                <a:solidFill>
                  <a:srgbClr val="176B87"/>
                </a:solidFill>
                <a:latin typeface="Arial"/>
                <a:ea typeface="Arial"/>
                <a:cs typeface="Arial"/>
              </a:defRPr>
            </a:lvl7pPr>
            <a:lvl8pPr>
              <a:defRPr sz="2100" b="1">
                <a:solidFill>
                  <a:srgbClr val="176B87"/>
                </a:solidFill>
                <a:latin typeface="Arial"/>
                <a:ea typeface="Arial"/>
                <a:cs typeface="Arial"/>
              </a:defRPr>
            </a:lvl8pPr>
            <a:lvl9pPr>
              <a:defRPr sz="2100" b="1">
                <a:solidFill>
                  <a:srgbClr val="176B87"/>
                </a:solidFill>
                <a:latin typeface="Arial"/>
                <a:ea typeface="Arial"/>
                <a:cs typeface="Arial"/>
              </a:defRPr>
            </a:lvl9pPr>
          </a:lstStyle>
          <a:p xmlns:a="http://schemas.openxmlformats.org/drawingml/2006/main">
            <a:pPr>
              <a:defRPr sz="2100" b="1">
                <a:solidFill>
                  <a:srgbClr val="176B87"/>
                </a:solidFill>
                <a:latin typeface="Arial"/>
                <a:ea typeface="Arial"/>
                <a:cs typeface="Arial"/>
              </a:defRPr>
            </a:pPr>
            <a:r>
              <a:rPr sz="2100" b="1">
                <a:solidFill>
                  <a:srgbClr val="176B87"/>
                </a:solidFill>
                <a:latin typeface="Arial"/>
                <a:ea typeface="Arial"/>
                <a:cs typeface="Arial"/>
              </a:rPr>
              <a:t>Residuals [-3, -1, 1, 3] dB     Initial p = 0.5, s1 = 1, s2 = 3</a:t>
            </a:r>
          </a:p>
        </p:txBody>
      </p:sp>
      <p:graphicFrame>
        <p:nvGraphicFramePr>
          <p:cNvPr id="5" name="">
            <a:extLst xmlns:a="http://schemas.openxmlformats.org/drawingml/2006/main">
              <a:ext uri="{FF2B5EF4-FFF2-40B4-BE49-F238E27FC236}">
                <a16:creationId xmlns:a16="http://schemas.microsoft.com/office/drawing/2014/main" id="{BEB6D38F-CBEE-4118-972E-EF63E94E27DA}"/>
              </a:ext>
            </a:extLst>
          </p:cNvPr>
          <p:cNvGraphicFramePr/>
          <p:nvPr/>
        </p:nvGraphicFramePr>
        <p:xfrm>
          <a:off xmlns:a="http://schemas.openxmlformats.org/drawingml/2006/main" x="628650" y="2295525"/>
          <a:ext xmlns:a="http://schemas.openxmlformats.org/drawingml/2006/main" cx="10763250" cy="1828800"/>
        </p:xfrm>
        <a:graphic xmlns:a="http://schemas.openxmlformats.org/drawingml/2006/main">
          <a:graphicData uri="http://schemas.openxmlformats.org/drawingml/2006/table">
            <a:tbl>
              <a:tblPr firstRow="1" bandRow="0"/>
              <a:tblGrid>
                <a:gridCol w="3619500"/>
                <a:gridCol w="3571875"/>
                <a:gridCol w="3571875"/>
              </a:tblGrid>
              <a:tr h="609600">
                <a:tc>
                  <a:txBody>
                    <a:bodyPr/>
                    <a:lstStyle/>
                    <a:p>
                      <a:r>
                        <a:rPr sz="2100" b="1">
                          <a:solidFill>
                            <a:srgbClr val="FFFFFF"/>
                          </a:solidFill>
                          <a:latin typeface="Arial"/>
                          <a:ea typeface="Arial"/>
                          <a:cs typeface="Arial"/>
                        </a:rPr>
                        <a:t>Residuals</a:t>
                      </a:r>
                    </a:p>
                  </a:txBody>
                  <a:tcPr marL="114300" marR="114300" marT="95250" marB="95250" anchor="ctr">
                    <a:lnL w="9525">
                      <a:solidFill>
                        <a:srgbClr val="D7E0E7"/>
                      </a:solidFill>
                      <a:prstDash val="solid"/>
                    </a:lnL>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c>
                  <a:txBody>
                    <a:bodyPr/>
                    <a:lstStyle/>
                    <a:p>
                      <a:r>
                        <a:rPr sz="2100" b="1">
                          <a:solidFill>
                            <a:srgbClr val="FFFFFF"/>
                          </a:solidFill>
                          <a:latin typeface="Arial"/>
                          <a:ea typeface="Arial"/>
                          <a:cs typeface="Arial"/>
                        </a:rPr>
                        <a:t>tau: narrow</a:t>
                      </a:r>
                    </a:p>
                  </a:txBody>
                  <a:tcPr marL="114300" marR="114300" marT="95250" marB="95250" anchor="ctr">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c>
                  <a:txBody>
                    <a:bodyPr/>
                    <a:lstStyle/>
                    <a:p>
                      <a:r>
                        <a:rPr sz="2100" b="1">
                          <a:solidFill>
                            <a:srgbClr val="FFFFFF"/>
                          </a:solidFill>
                          <a:latin typeface="Arial"/>
                          <a:ea typeface="Arial"/>
                          <a:cs typeface="Arial"/>
                        </a:rPr>
                        <a:t>1 - tau: wide</a:t>
                      </a:r>
                    </a:p>
                  </a:txBody>
                  <a:tcPr marL="114300" marR="114300" marT="95250" marB="95250" anchor="ctr">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r>
              <a:tr h="609600">
                <a:tc>
                  <a:txBody>
                    <a:bodyPr/>
                    <a:lstStyle/>
                    <a:p>
                      <a:r>
                        <a:rPr sz="2100" b="0">
                          <a:solidFill>
                            <a:srgbClr val="17324D"/>
                          </a:solidFill>
                          <a:latin typeface="Arial"/>
                          <a:ea typeface="Arial"/>
                          <a:cs typeface="Arial"/>
                        </a:rPr>
                        <a:t>-1 and +1 dB</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a:lstStyle/>
                    <a:p>
                      <a:r>
                        <a:rPr sz="2100" b="0">
                          <a:solidFill>
                            <a:srgbClr val="17324D"/>
                          </a:solidFill>
                          <a:latin typeface="Arial"/>
                          <a:ea typeface="Arial"/>
                          <a:cs typeface="Arial"/>
                        </a:rPr>
                        <a:t>0.657949</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2100" b="0">
                          <a:solidFill>
                            <a:srgbClr val="17324D"/>
                          </a:solidFill>
                          <a:latin typeface="Arial"/>
                          <a:ea typeface="Arial"/>
                          <a:cs typeface="Arial"/>
                        </a:rPr>
                        <a:t>0.342051</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r>
              <a:tr h="609600">
                <a:tc>
                  <a:txBody>
                    <a:bodyPr/>
                    <a:lstStyle/>
                    <a:p>
                      <a:r>
                        <a:rPr sz="2100" b="0">
                          <a:solidFill>
                            <a:srgbClr val="17324D"/>
                          </a:solidFill>
                          <a:latin typeface="Arial"/>
                          <a:ea typeface="Arial"/>
                          <a:cs typeface="Arial"/>
                        </a:rPr>
                        <a:t>-3 and +3 dB</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EAF1F5"/>
                    </a:solidFill>
                  </a:tcPr>
                </a:tc>
                <a:tc>
                  <a:txBody>
                    <a:bodyPr/>
                    <a:lstStyle/>
                    <a:p>
                      <a:r>
                        <a:rPr sz="2100" b="0">
                          <a:solidFill>
                            <a:srgbClr val="17324D"/>
                          </a:solidFill>
                          <a:latin typeface="Arial"/>
                          <a:ea typeface="Arial"/>
                          <a:cs typeface="Arial"/>
                        </a:rPr>
                        <a:t>0.052085</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c>
                  <a:txBody>
                    <a:bodyPr/>
                    <a:lstStyle/>
                    <a:p>
                      <a:r>
                        <a:rPr sz="2100" b="0">
                          <a:solidFill>
                            <a:srgbClr val="17324D"/>
                          </a:solidFill>
                          <a:latin typeface="Arial"/>
                          <a:ea typeface="Arial"/>
                          <a:cs typeface="Arial"/>
                        </a:rPr>
                        <a:t>0.947915</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r>
            </a:tbl>
          </a:graphicData>
        </a:graphic>
      </p:graphicFrame>
      <p:sp>
        <p:nvSpPr>
          <p:cNvPr id="6" name="">
            <a:extLst xmlns:a="http://schemas.openxmlformats.org/drawingml/2006/main">
              <a:ext uri="{FF2B5EF4-FFF2-40B4-BE49-F238E27FC236}">
                <a16:creationId xmlns:a16="http://schemas.microsoft.com/office/drawing/2014/main" id="{246A7C2D-8C04-49E7-8D23-D72E8AF3C410}"/>
              </a:ext>
            </a:extLst>
          </p:cNvPr>
          <p:cNvSpPr>
            <a:spLocks xmlns:a="http://schemas.openxmlformats.org/drawingml/2006/main" noGrp="1"/>
          </p:cNvSpPr>
          <p:nvPr/>
        </p:nvSpPr>
        <p:spPr>
          <a:xfrm xmlns:a="http://schemas.openxmlformats.org/drawingml/2006/main">
            <a:off x="628650" y="45624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24D"/>
                </a:solidFill>
                <a:latin typeface="Arial"/>
                <a:ea typeface="Arial"/>
                <a:cs typeface="Arial"/>
              </a:defRPr>
            </a:defPPr>
            <a:lvl1pPr>
              <a:defRPr sz="2175" b="1">
                <a:solidFill>
                  <a:srgbClr val="17324D"/>
                </a:solidFill>
                <a:latin typeface="Arial"/>
                <a:ea typeface="Arial"/>
                <a:cs typeface="Arial"/>
              </a:defRPr>
            </a:lvl1pPr>
            <a:lvl2pPr>
              <a:defRPr sz="2175" b="1">
                <a:solidFill>
                  <a:srgbClr val="17324D"/>
                </a:solidFill>
                <a:latin typeface="Arial"/>
                <a:ea typeface="Arial"/>
                <a:cs typeface="Arial"/>
              </a:defRPr>
            </a:lvl2pPr>
            <a:lvl3pPr>
              <a:defRPr sz="2175" b="1">
                <a:solidFill>
                  <a:srgbClr val="17324D"/>
                </a:solidFill>
                <a:latin typeface="Arial"/>
                <a:ea typeface="Arial"/>
                <a:cs typeface="Arial"/>
              </a:defRPr>
            </a:lvl3pPr>
            <a:lvl4pPr>
              <a:defRPr sz="2175" b="1">
                <a:solidFill>
                  <a:srgbClr val="17324D"/>
                </a:solidFill>
                <a:latin typeface="Arial"/>
                <a:ea typeface="Arial"/>
                <a:cs typeface="Arial"/>
              </a:defRPr>
            </a:lvl4pPr>
            <a:lvl5pPr>
              <a:defRPr sz="2175" b="1">
                <a:solidFill>
                  <a:srgbClr val="17324D"/>
                </a:solidFill>
                <a:latin typeface="Arial"/>
                <a:ea typeface="Arial"/>
                <a:cs typeface="Arial"/>
              </a:defRPr>
            </a:lvl5pPr>
            <a:lvl6pPr>
              <a:defRPr sz="2175" b="1">
                <a:solidFill>
                  <a:srgbClr val="17324D"/>
                </a:solidFill>
                <a:latin typeface="Arial"/>
                <a:ea typeface="Arial"/>
                <a:cs typeface="Arial"/>
              </a:defRPr>
            </a:lvl6pPr>
            <a:lvl7pPr>
              <a:defRPr sz="2175" b="1">
                <a:solidFill>
                  <a:srgbClr val="17324D"/>
                </a:solidFill>
                <a:latin typeface="Arial"/>
                <a:ea typeface="Arial"/>
                <a:cs typeface="Arial"/>
              </a:defRPr>
            </a:lvl7pPr>
            <a:lvl8pPr>
              <a:defRPr sz="2175" b="1">
                <a:solidFill>
                  <a:srgbClr val="17324D"/>
                </a:solidFill>
                <a:latin typeface="Arial"/>
                <a:ea typeface="Arial"/>
                <a:cs typeface="Arial"/>
              </a:defRPr>
            </a:lvl8pPr>
            <a:lvl9pPr>
              <a:defRPr sz="2175" b="1">
                <a:solidFill>
                  <a:srgbClr val="17324D"/>
                </a:solidFill>
                <a:latin typeface="Arial"/>
                <a:ea typeface="Arial"/>
                <a:cs typeface="Arial"/>
              </a:defRPr>
            </a:lvl9pPr>
          </a:lstStyle>
          <a:p xmlns:a="http://schemas.openxmlformats.org/drawingml/2006/main">
            <a:pPr>
              <a:defRPr sz="2175" b="1">
                <a:solidFill>
                  <a:srgbClr val="17324D"/>
                </a:solidFill>
                <a:latin typeface="Arial"/>
                <a:ea typeface="Arial"/>
                <a:cs typeface="Arial"/>
              </a:defRPr>
            </a:pPr>
            <a:r>
              <a:rPr sz="2175" b="1">
                <a:solidFill>
                  <a:srgbClr val="17324D"/>
                </a:solidFill>
                <a:latin typeface="Arial"/>
                <a:ea typeface="Arial"/>
                <a:cs typeface="Arial"/>
              </a:rPr>
              <a:t>New p = (2 x 0.657949 + 2 x 0.052085) / 4 = 0.355017</a:t>
            </a:r>
          </a:p>
          <a:p xmlns:a="http://schemas.openxmlformats.org/drawingml/2006/main">
            <a:pPr>
              <a:defRPr sz="2175" b="1">
                <a:solidFill>
                  <a:srgbClr val="17324D"/>
                </a:solidFill>
                <a:latin typeface="Arial"/>
                <a:ea typeface="Arial"/>
                <a:cs typeface="Arial"/>
              </a:defRPr>
            </a:pPr>
            <a:r>
              <a:rPr sz="2175" b="1">
                <a:solidFill>
                  <a:srgbClr val="17324D"/>
                </a:solidFill>
                <a:latin typeface="Arial"/>
                <a:ea typeface="Arial"/>
                <a:cs typeface="Arial"/>
              </a:rPr>
              <a:t>New s1 = 1.259700 dB     New s2 = 2.622727 dB</a:t>
            </a:r>
          </a:p>
        </p:txBody>
      </p:sp>
      <p:sp>
        <p:nvSpPr>
          <p:cNvPr id="7" name="">
            <a:extLst xmlns:a="http://schemas.openxmlformats.org/drawingml/2006/main">
              <a:ext uri="{FF2B5EF4-FFF2-40B4-BE49-F238E27FC236}">
                <a16:creationId xmlns:a16="http://schemas.microsoft.com/office/drawing/2014/main" id="{D0893997-2B27-4B71-AC34-03EB295E9676}"/>
              </a:ext>
            </a:extLst>
          </p:cNvPr>
          <p:cNvSpPr>
            <a:spLocks xmlns:a="http://schemas.openxmlformats.org/drawingml/2006/main" noGrp="1"/>
          </p:cNvSpPr>
          <p:nvPr/>
        </p:nvSpPr>
        <p:spPr>
          <a:xfrm xmlns:a="http://schemas.openxmlformats.org/drawingml/2006/main">
            <a:off x="628650" y="58007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95925"/>
                </a:solidFill>
                <a:latin typeface="Arial"/>
                <a:ea typeface="Arial"/>
                <a:cs typeface="Arial"/>
              </a:defRPr>
            </a:defPPr>
            <a:lvl1pPr>
              <a:defRPr sz="1575" b="0">
                <a:solidFill>
                  <a:srgbClr val="B95925"/>
                </a:solidFill>
                <a:latin typeface="Arial"/>
                <a:ea typeface="Arial"/>
                <a:cs typeface="Arial"/>
              </a:defRPr>
            </a:lvl1pPr>
            <a:lvl2pPr>
              <a:defRPr sz="1575" b="0">
                <a:solidFill>
                  <a:srgbClr val="B95925"/>
                </a:solidFill>
                <a:latin typeface="Arial"/>
                <a:ea typeface="Arial"/>
                <a:cs typeface="Arial"/>
              </a:defRPr>
            </a:lvl2pPr>
            <a:lvl3pPr>
              <a:defRPr sz="1575" b="0">
                <a:solidFill>
                  <a:srgbClr val="B95925"/>
                </a:solidFill>
                <a:latin typeface="Arial"/>
                <a:ea typeface="Arial"/>
                <a:cs typeface="Arial"/>
              </a:defRPr>
            </a:lvl3pPr>
            <a:lvl4pPr>
              <a:defRPr sz="1575" b="0">
                <a:solidFill>
                  <a:srgbClr val="B95925"/>
                </a:solidFill>
                <a:latin typeface="Arial"/>
                <a:ea typeface="Arial"/>
                <a:cs typeface="Arial"/>
              </a:defRPr>
            </a:lvl4pPr>
            <a:lvl5pPr>
              <a:defRPr sz="1575" b="0">
                <a:solidFill>
                  <a:srgbClr val="B95925"/>
                </a:solidFill>
                <a:latin typeface="Arial"/>
                <a:ea typeface="Arial"/>
                <a:cs typeface="Arial"/>
              </a:defRPr>
            </a:lvl5pPr>
            <a:lvl6pPr>
              <a:defRPr sz="1575" b="0">
                <a:solidFill>
                  <a:srgbClr val="B95925"/>
                </a:solidFill>
                <a:latin typeface="Arial"/>
                <a:ea typeface="Arial"/>
                <a:cs typeface="Arial"/>
              </a:defRPr>
            </a:lvl6pPr>
            <a:lvl7pPr>
              <a:defRPr sz="1575" b="0">
                <a:solidFill>
                  <a:srgbClr val="B95925"/>
                </a:solidFill>
                <a:latin typeface="Arial"/>
                <a:ea typeface="Arial"/>
                <a:cs typeface="Arial"/>
              </a:defRPr>
            </a:lvl7pPr>
            <a:lvl8pPr>
              <a:defRPr sz="1575" b="0">
                <a:solidFill>
                  <a:srgbClr val="B95925"/>
                </a:solidFill>
                <a:latin typeface="Arial"/>
                <a:ea typeface="Arial"/>
                <a:cs typeface="Arial"/>
              </a:defRPr>
            </a:lvl8pPr>
            <a:lvl9pPr>
              <a:defRPr sz="1575" b="0">
                <a:solidFill>
                  <a:srgbClr val="B95925"/>
                </a:solidFill>
                <a:latin typeface="Arial"/>
                <a:ea typeface="Arial"/>
                <a:cs typeface="Arial"/>
              </a:defRPr>
            </a:lvl9pPr>
          </a:lstStyle>
          <a:p xmlns:a="http://schemas.openxmlformats.org/drawingml/2006/main">
            <a:pPr>
              <a:defRPr sz="1575" b="0">
                <a:solidFill>
                  <a:srgbClr val="B95925"/>
                </a:solidFill>
                <a:latin typeface="Arial"/>
                <a:ea typeface="Arial"/>
                <a:cs typeface="Arial"/>
              </a:defRPr>
            </a:pPr>
            <a:r>
              <a:rPr sz="1575" b="0">
                <a:solidFill>
                  <a:srgbClr val="B95925"/>
                </a:solidFill>
                <a:latin typeface="Arial"/>
                <a:ea typeface="Arial"/>
                <a:cs typeface="Arial"/>
              </a:rPr>
              <a:t>The larger residuals contribute more weight to the wide component.</a:t>
            </a:r>
          </a:p>
        </p:txBody>
      </p:sp>
    </p:spTree>
    <p:extLst>
      <p:ext uri="{BB962C8B-B14F-4D97-AF65-F5344CB8AC3E}">
        <p14:creationId xmlns:p14="http://schemas.microsoft.com/office/powerpoint/2010/main" val="21021863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FAD1EB-9B11-459F-A44A-60EFF42A3179}"/>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Implementation and complexity</a:t>
            </a:r>
          </a:p>
        </p:txBody>
      </p:sp>
      <p:sp>
        <p:nvSpPr>
          <p:cNvPr id="2" name="">
            <a:extLst xmlns:a="http://schemas.openxmlformats.org/drawingml/2006/main">
              <a:ext uri="{FF2B5EF4-FFF2-40B4-BE49-F238E27FC236}">
                <a16:creationId xmlns:a16="http://schemas.microsoft.com/office/drawing/2014/main" id="{32A52858-6483-440A-8D72-D37EA8F22842}"/>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4043B421-51A7-4CD3-A9D2-05DD1474FBD9}"/>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2B72815-2CF1-402B-B144-D2E21F5B1DAF}"/>
              </a:ext>
            </a:extLst>
          </p:cNvPr>
          <p:cNvSpPr>
            <a:spLocks xmlns:a="http://schemas.openxmlformats.org/drawingml/2006/main" noGrp="1"/>
          </p:cNvSpPr>
          <p:nvPr/>
        </p:nvSpPr>
        <p:spPr>
          <a:xfrm xmlns:a="http://schemas.openxmlformats.org/drawingml/2006/main">
            <a:off x="628650" y="14573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87"/>
                </a:solidFill>
                <a:latin typeface="Arial"/>
                <a:ea typeface="Arial"/>
                <a:cs typeface="Arial"/>
              </a:defRPr>
            </a:defPPr>
            <a:lvl1pPr>
              <a:defRPr sz="2325" b="1">
                <a:solidFill>
                  <a:srgbClr val="176B87"/>
                </a:solidFill>
                <a:latin typeface="Arial"/>
                <a:ea typeface="Arial"/>
                <a:cs typeface="Arial"/>
              </a:defRPr>
            </a:lvl1pPr>
            <a:lvl2pPr>
              <a:defRPr sz="2325" b="1">
                <a:solidFill>
                  <a:srgbClr val="176B87"/>
                </a:solidFill>
                <a:latin typeface="Arial"/>
                <a:ea typeface="Arial"/>
                <a:cs typeface="Arial"/>
              </a:defRPr>
            </a:lvl2pPr>
            <a:lvl3pPr>
              <a:defRPr sz="2325" b="1">
                <a:solidFill>
                  <a:srgbClr val="176B87"/>
                </a:solidFill>
                <a:latin typeface="Arial"/>
                <a:ea typeface="Arial"/>
                <a:cs typeface="Arial"/>
              </a:defRPr>
            </a:lvl3pPr>
            <a:lvl4pPr>
              <a:defRPr sz="2325" b="1">
                <a:solidFill>
                  <a:srgbClr val="176B87"/>
                </a:solidFill>
                <a:latin typeface="Arial"/>
                <a:ea typeface="Arial"/>
                <a:cs typeface="Arial"/>
              </a:defRPr>
            </a:lvl4pPr>
            <a:lvl5pPr>
              <a:defRPr sz="2325" b="1">
                <a:solidFill>
                  <a:srgbClr val="176B87"/>
                </a:solidFill>
                <a:latin typeface="Arial"/>
                <a:ea typeface="Arial"/>
                <a:cs typeface="Arial"/>
              </a:defRPr>
            </a:lvl5pPr>
            <a:lvl6pPr>
              <a:defRPr sz="2325" b="1">
                <a:solidFill>
                  <a:srgbClr val="176B87"/>
                </a:solidFill>
                <a:latin typeface="Arial"/>
                <a:ea typeface="Arial"/>
                <a:cs typeface="Arial"/>
              </a:defRPr>
            </a:lvl6pPr>
            <a:lvl7pPr>
              <a:defRPr sz="2325" b="1">
                <a:solidFill>
                  <a:srgbClr val="176B87"/>
                </a:solidFill>
                <a:latin typeface="Arial"/>
                <a:ea typeface="Arial"/>
                <a:cs typeface="Arial"/>
              </a:defRPr>
            </a:lvl7pPr>
            <a:lvl8pPr>
              <a:defRPr sz="2325" b="1">
                <a:solidFill>
                  <a:srgbClr val="176B87"/>
                </a:solidFill>
                <a:latin typeface="Arial"/>
                <a:ea typeface="Arial"/>
                <a:cs typeface="Arial"/>
              </a:defRPr>
            </a:lvl8pPr>
            <a:lvl9pPr>
              <a:defRPr sz="2325" b="1">
                <a:solidFill>
                  <a:srgbClr val="176B87"/>
                </a:solidFill>
                <a:latin typeface="Arial"/>
                <a:ea typeface="Arial"/>
                <a:cs typeface="Arial"/>
              </a:defRPr>
            </a:lvl9pPr>
          </a:lstStyle>
          <a:p xmlns:a="http://schemas.openxmlformats.org/drawingml/2006/main">
            <a:pPr>
              <a:defRPr sz="2325" b="1">
                <a:solidFill>
                  <a:srgbClr val="176B87"/>
                </a:solidFill>
                <a:latin typeface="Arial"/>
                <a:ea typeface="Arial"/>
                <a:cs typeface="Arial"/>
              </a:defRPr>
            </a:pPr>
            <a:r>
              <a:rPr sz="2325" b="1">
                <a:solidFill>
                  <a:srgbClr val="176B87"/>
                </a:solidFill>
                <a:latin typeface="Arial"/>
                <a:ea typeface="Arial"/>
                <a:cs typeface="Arial"/>
              </a:rPr>
              <a:t>em.cpp (C++17)</a:t>
            </a:r>
          </a:p>
        </p:txBody>
      </p:sp>
      <p:sp>
        <p:nvSpPr>
          <p:cNvPr id="5" name="">
            <a:extLst xmlns:a="http://schemas.openxmlformats.org/drawingml/2006/main">
              <a:ext uri="{FF2B5EF4-FFF2-40B4-BE49-F238E27FC236}">
                <a16:creationId xmlns:a16="http://schemas.microsoft.com/office/drawing/2014/main" id="{B4887D3F-B7FB-4EDB-B82E-AEECF4C10176}"/>
              </a:ext>
            </a:extLst>
          </p:cNvPr>
          <p:cNvSpPr>
            <a:spLocks xmlns:a="http://schemas.openxmlformats.org/drawingml/2006/main" noGrp="1"/>
          </p:cNvSpPr>
          <p:nvPr/>
        </p:nvSpPr>
        <p:spPr>
          <a:xfrm xmlns:a="http://schemas.openxmlformats.org/drawingml/2006/main">
            <a:off x="628650" y="2047875"/>
            <a:ext cx="10572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24D"/>
                </a:solidFill>
                <a:latin typeface="Arial"/>
                <a:ea typeface="Arial"/>
                <a:cs typeface="Arial"/>
              </a:defRPr>
            </a:defPPr>
            <a:lvl1pPr>
              <a:defRPr sz="2100" b="0">
                <a:solidFill>
                  <a:srgbClr val="17324D"/>
                </a:solidFill>
                <a:latin typeface="Arial"/>
                <a:ea typeface="Arial"/>
                <a:cs typeface="Arial"/>
              </a:defRPr>
            </a:lvl1pPr>
            <a:lvl2pPr>
              <a:defRPr sz="2100" b="0">
                <a:solidFill>
                  <a:srgbClr val="17324D"/>
                </a:solidFill>
                <a:latin typeface="Arial"/>
                <a:ea typeface="Arial"/>
                <a:cs typeface="Arial"/>
              </a:defRPr>
            </a:lvl2pPr>
            <a:lvl3pPr>
              <a:defRPr sz="2100" b="0">
                <a:solidFill>
                  <a:srgbClr val="17324D"/>
                </a:solidFill>
                <a:latin typeface="Arial"/>
                <a:ea typeface="Arial"/>
                <a:cs typeface="Arial"/>
              </a:defRPr>
            </a:lvl3pPr>
            <a:lvl4pPr>
              <a:defRPr sz="2100" b="0">
                <a:solidFill>
                  <a:srgbClr val="17324D"/>
                </a:solidFill>
                <a:latin typeface="Arial"/>
                <a:ea typeface="Arial"/>
                <a:cs typeface="Arial"/>
              </a:defRPr>
            </a:lvl4pPr>
            <a:lvl5pPr>
              <a:defRPr sz="2100" b="0">
                <a:solidFill>
                  <a:srgbClr val="17324D"/>
                </a:solidFill>
                <a:latin typeface="Arial"/>
                <a:ea typeface="Arial"/>
                <a:cs typeface="Arial"/>
              </a:defRPr>
            </a:lvl5pPr>
            <a:lvl6pPr>
              <a:defRPr sz="2100" b="0">
                <a:solidFill>
                  <a:srgbClr val="17324D"/>
                </a:solidFill>
                <a:latin typeface="Arial"/>
                <a:ea typeface="Arial"/>
                <a:cs typeface="Arial"/>
              </a:defRPr>
            </a:lvl6pPr>
            <a:lvl7pPr>
              <a:defRPr sz="2100" b="0">
                <a:solidFill>
                  <a:srgbClr val="17324D"/>
                </a:solidFill>
                <a:latin typeface="Arial"/>
                <a:ea typeface="Arial"/>
                <a:cs typeface="Arial"/>
              </a:defRPr>
            </a:lvl7pPr>
            <a:lvl8pPr>
              <a:defRPr sz="2100" b="0">
                <a:solidFill>
                  <a:srgbClr val="17324D"/>
                </a:solidFill>
                <a:latin typeface="Arial"/>
                <a:ea typeface="Arial"/>
                <a:cs typeface="Arial"/>
              </a:defRPr>
            </a:lvl8pPr>
            <a:lvl9pPr>
              <a:defRPr sz="2100" b="0">
                <a:solidFill>
                  <a:srgbClr val="17324D"/>
                </a:solidFill>
                <a:latin typeface="Arial"/>
                <a:ea typeface="Arial"/>
                <a:cs typeface="Arial"/>
              </a:defRPr>
            </a:lvl9pPr>
          </a:lstStyle>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1  Receive residuals and initial p, s1, s2</a:t>
            </a:r>
          </a:p>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2  Evaluate normal log densities</a:t>
            </a:r>
          </a:p>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3  Normalize posterior responsibilities</a:t>
            </a:r>
          </a:p>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4  Update p and weighted second moments</a:t>
            </a:r>
          </a:p>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5  Apply sigma floor and order components</a:t>
            </a:r>
          </a:p>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6  Stop on small parameter change or iteration cap</a:t>
            </a:r>
          </a:p>
        </p:txBody>
      </p:sp>
      <p:sp>
        <p:nvSpPr>
          <p:cNvPr id="6" name="">
            <a:extLst xmlns:a="http://schemas.openxmlformats.org/drawingml/2006/main">
              <a:ext uri="{FF2B5EF4-FFF2-40B4-BE49-F238E27FC236}">
                <a16:creationId xmlns:a16="http://schemas.microsoft.com/office/drawing/2014/main" id="{FF445BFC-24F6-4CF0-A4AA-00A8AB2E7DDE}"/>
              </a:ext>
            </a:extLst>
          </p:cNvPr>
          <p:cNvSpPr>
            <a:spLocks xmlns:a="http://schemas.openxmlformats.org/drawingml/2006/main" noGrp="1"/>
          </p:cNvSpPr>
          <p:nvPr/>
        </p:nvSpPr>
        <p:spPr>
          <a:xfrm xmlns:a="http://schemas.openxmlformats.org/drawingml/2006/main">
            <a:off x="628650" y="50196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87"/>
                </a:solidFill>
                <a:latin typeface="Arial"/>
                <a:ea typeface="Arial"/>
                <a:cs typeface="Arial"/>
              </a:defRPr>
            </a:defPPr>
            <a:lvl1pPr>
              <a:defRPr sz="2325" b="1">
                <a:solidFill>
                  <a:srgbClr val="176B87"/>
                </a:solidFill>
                <a:latin typeface="Arial"/>
                <a:ea typeface="Arial"/>
                <a:cs typeface="Arial"/>
              </a:defRPr>
            </a:lvl1pPr>
            <a:lvl2pPr>
              <a:defRPr sz="2325" b="1">
                <a:solidFill>
                  <a:srgbClr val="176B87"/>
                </a:solidFill>
                <a:latin typeface="Arial"/>
                <a:ea typeface="Arial"/>
                <a:cs typeface="Arial"/>
              </a:defRPr>
            </a:lvl2pPr>
            <a:lvl3pPr>
              <a:defRPr sz="2325" b="1">
                <a:solidFill>
                  <a:srgbClr val="176B87"/>
                </a:solidFill>
                <a:latin typeface="Arial"/>
                <a:ea typeface="Arial"/>
                <a:cs typeface="Arial"/>
              </a:defRPr>
            </a:lvl3pPr>
            <a:lvl4pPr>
              <a:defRPr sz="2325" b="1">
                <a:solidFill>
                  <a:srgbClr val="176B87"/>
                </a:solidFill>
                <a:latin typeface="Arial"/>
                <a:ea typeface="Arial"/>
                <a:cs typeface="Arial"/>
              </a:defRPr>
            </a:lvl4pPr>
            <a:lvl5pPr>
              <a:defRPr sz="2325" b="1">
                <a:solidFill>
                  <a:srgbClr val="176B87"/>
                </a:solidFill>
                <a:latin typeface="Arial"/>
                <a:ea typeface="Arial"/>
                <a:cs typeface="Arial"/>
              </a:defRPr>
            </a:lvl5pPr>
            <a:lvl6pPr>
              <a:defRPr sz="2325" b="1">
                <a:solidFill>
                  <a:srgbClr val="176B87"/>
                </a:solidFill>
                <a:latin typeface="Arial"/>
                <a:ea typeface="Arial"/>
                <a:cs typeface="Arial"/>
              </a:defRPr>
            </a:lvl6pPr>
            <a:lvl7pPr>
              <a:defRPr sz="2325" b="1">
                <a:solidFill>
                  <a:srgbClr val="176B87"/>
                </a:solidFill>
                <a:latin typeface="Arial"/>
                <a:ea typeface="Arial"/>
                <a:cs typeface="Arial"/>
              </a:defRPr>
            </a:lvl7pPr>
            <a:lvl8pPr>
              <a:defRPr sz="2325" b="1">
                <a:solidFill>
                  <a:srgbClr val="176B87"/>
                </a:solidFill>
                <a:latin typeface="Arial"/>
                <a:ea typeface="Arial"/>
                <a:cs typeface="Arial"/>
              </a:defRPr>
            </a:lvl8pPr>
            <a:lvl9pPr>
              <a:defRPr sz="2325" b="1">
                <a:solidFill>
                  <a:srgbClr val="176B87"/>
                </a:solidFill>
                <a:latin typeface="Arial"/>
                <a:ea typeface="Arial"/>
                <a:cs typeface="Arial"/>
              </a:defRPr>
            </a:lvl9pPr>
          </a:lstStyle>
          <a:p xmlns:a="http://schemas.openxmlformats.org/drawingml/2006/main">
            <a:pPr>
              <a:defRPr sz="2325" b="1">
                <a:solidFill>
                  <a:srgbClr val="176B87"/>
                </a:solidFill>
                <a:latin typeface="Arial"/>
                <a:ea typeface="Arial"/>
                <a:cs typeface="Arial"/>
              </a:defRPr>
            </a:pPr>
            <a:r>
              <a:rPr sz="2325" b="1">
                <a:solidFill>
                  <a:srgbClr val="176B87"/>
                </a:solidFill>
                <a:latin typeface="Arial"/>
                <a:ea typeface="Arial"/>
                <a:cs typeface="Arial"/>
              </a:rPr>
              <a:t>Time: O(I N) for two components</a:t>
            </a:r>
          </a:p>
          <a:p xmlns:a="http://schemas.openxmlformats.org/drawingml/2006/main">
            <a:pPr>
              <a:defRPr sz="2325" b="1">
                <a:solidFill>
                  <a:srgbClr val="176B87"/>
                </a:solidFill>
                <a:latin typeface="Arial"/>
                <a:ea typeface="Arial"/>
                <a:cs typeface="Arial"/>
              </a:defRPr>
            </a:pPr>
            <a:r>
              <a:rPr sz="2325" b="1">
                <a:solidFill>
                  <a:srgbClr val="176B87"/>
                </a:solidFill>
                <a:latin typeface="Arial"/>
                <a:ea typeface="Arial"/>
                <a:cs typeface="Arial"/>
              </a:rPr>
              <a:t>Working memory: O(N)</a:t>
            </a:r>
          </a:p>
        </p:txBody>
      </p:sp>
      <p:sp>
        <p:nvSpPr>
          <p:cNvPr id="7" name="">
            <a:extLst xmlns:a="http://schemas.openxmlformats.org/drawingml/2006/main">
              <a:ext uri="{FF2B5EF4-FFF2-40B4-BE49-F238E27FC236}">
                <a16:creationId xmlns:a16="http://schemas.microsoft.com/office/drawing/2014/main" id="{0AC480D7-1D0F-4292-98A8-CE501D34A296}"/>
              </a:ext>
            </a:extLst>
          </p:cNvPr>
          <p:cNvSpPr>
            <a:spLocks xmlns:a="http://schemas.openxmlformats.org/drawingml/2006/main" noGrp="1"/>
          </p:cNvSpPr>
          <p:nvPr/>
        </p:nvSpPr>
        <p:spPr>
          <a:xfrm xmlns:a="http://schemas.openxmlformats.org/drawingml/2006/main">
            <a:off x="628650" y="59531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95925"/>
                </a:solidFill>
                <a:latin typeface="Arial"/>
                <a:ea typeface="Arial"/>
                <a:cs typeface="Arial"/>
              </a:defRPr>
            </a:defPPr>
            <a:lvl1pPr>
              <a:defRPr sz="1575" b="0">
                <a:solidFill>
                  <a:srgbClr val="B95925"/>
                </a:solidFill>
                <a:latin typeface="Arial"/>
                <a:ea typeface="Arial"/>
                <a:cs typeface="Arial"/>
              </a:defRPr>
            </a:lvl1pPr>
            <a:lvl2pPr>
              <a:defRPr sz="1575" b="0">
                <a:solidFill>
                  <a:srgbClr val="B95925"/>
                </a:solidFill>
                <a:latin typeface="Arial"/>
                <a:ea typeface="Arial"/>
                <a:cs typeface="Arial"/>
              </a:defRPr>
            </a:lvl2pPr>
            <a:lvl3pPr>
              <a:defRPr sz="1575" b="0">
                <a:solidFill>
                  <a:srgbClr val="B95925"/>
                </a:solidFill>
                <a:latin typeface="Arial"/>
                <a:ea typeface="Arial"/>
                <a:cs typeface="Arial"/>
              </a:defRPr>
            </a:lvl3pPr>
            <a:lvl4pPr>
              <a:defRPr sz="1575" b="0">
                <a:solidFill>
                  <a:srgbClr val="B95925"/>
                </a:solidFill>
                <a:latin typeface="Arial"/>
                <a:ea typeface="Arial"/>
                <a:cs typeface="Arial"/>
              </a:defRPr>
            </a:lvl4pPr>
            <a:lvl5pPr>
              <a:defRPr sz="1575" b="0">
                <a:solidFill>
                  <a:srgbClr val="B95925"/>
                </a:solidFill>
                <a:latin typeface="Arial"/>
                <a:ea typeface="Arial"/>
                <a:cs typeface="Arial"/>
              </a:defRPr>
            </a:lvl5pPr>
            <a:lvl6pPr>
              <a:defRPr sz="1575" b="0">
                <a:solidFill>
                  <a:srgbClr val="B95925"/>
                </a:solidFill>
                <a:latin typeface="Arial"/>
                <a:ea typeface="Arial"/>
                <a:cs typeface="Arial"/>
              </a:defRPr>
            </a:lvl6pPr>
            <a:lvl7pPr>
              <a:defRPr sz="1575" b="0">
                <a:solidFill>
                  <a:srgbClr val="B95925"/>
                </a:solidFill>
                <a:latin typeface="Arial"/>
                <a:ea typeface="Arial"/>
                <a:cs typeface="Arial"/>
              </a:defRPr>
            </a:lvl7pPr>
            <a:lvl8pPr>
              <a:defRPr sz="1575" b="0">
                <a:solidFill>
                  <a:srgbClr val="B95925"/>
                </a:solidFill>
                <a:latin typeface="Arial"/>
                <a:ea typeface="Arial"/>
                <a:cs typeface="Arial"/>
              </a:defRPr>
            </a:lvl8pPr>
            <a:lvl9pPr>
              <a:defRPr sz="1575" b="0">
                <a:solidFill>
                  <a:srgbClr val="B95925"/>
                </a:solidFill>
                <a:latin typeface="Arial"/>
                <a:ea typeface="Arial"/>
                <a:cs typeface="Arial"/>
              </a:defRPr>
            </a:lvl9pPr>
          </a:lstStyle>
          <a:p xmlns:a="http://schemas.openxmlformats.org/drawingml/2006/main">
            <a:pPr>
              <a:defRPr sz="1575" b="0">
                <a:solidFill>
                  <a:srgbClr val="B95925"/>
                </a:solidFill>
                <a:latin typeface="Arial"/>
                <a:ea typeface="Arial"/>
                <a:cs typeface="Arial"/>
              </a:defRPr>
            </a:pPr>
            <a:r>
              <a:rPr sz="1575" b="0">
                <a:solidFill>
                  <a:srgbClr val="B95925"/>
                </a:solidFill>
                <a:latin typeface="Arial"/>
                <a:ea typeface="Arial"/>
                <a:cs typeface="Arial"/>
              </a:rPr>
              <a:t>N residuals, I iterations. Floor: 0.15 dB. A stopping flag does not prove global optimality.</a:t>
            </a:r>
          </a:p>
        </p:txBody>
      </p:sp>
    </p:spTree>
    <p:extLst>
      <p:ext uri="{BB962C8B-B14F-4D97-AF65-F5344CB8AC3E}">
        <p14:creationId xmlns:p14="http://schemas.microsoft.com/office/powerpoint/2010/main" val="19178936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1A2CE5-455D-4A85-9193-C844EE6AABB3}"/>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EM parameter recovery and initialization</a:t>
            </a:r>
          </a:p>
        </p:txBody>
      </p:sp>
      <p:sp>
        <p:nvSpPr>
          <p:cNvPr id="2" name="">
            <a:extLst xmlns:a="http://schemas.openxmlformats.org/drawingml/2006/main">
              <a:ext uri="{FF2B5EF4-FFF2-40B4-BE49-F238E27FC236}">
                <a16:creationId xmlns:a16="http://schemas.microsoft.com/office/drawing/2014/main" id="{970544B3-A1BD-4E12-A368-E27A00FA538F}"/>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F4FB0B95-E825-46AB-8565-67D762742313}"/>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3F9D44EE-7547-4C96-BE67-B8EF479348CF}"/>
              </a:ext>
            </a:extLst>
          </p:cNvPr>
          <p:cNvGraphicFramePr/>
          <p:nvPr/>
        </p:nvGraphicFramePr>
        <p:xfrm>
          <a:off xmlns:a="http://schemas.openxmlformats.org/drawingml/2006/main" x="628650" y="1495425"/>
          <a:ext xmlns:a="http://schemas.openxmlformats.org/drawingml/2006/main" cx="10763250" cy="3028950"/>
        </p:xfrm>
        <a:graphic xmlns:a="http://schemas.openxmlformats.org/drawingml/2006/main">
          <a:graphicData uri="http://schemas.openxmlformats.org/drawingml/2006/table">
            <a:tbl>
              <a:tblPr firstRow="1" bandRow="0"/>
              <a:tblGrid>
                <a:gridCol w="1524000"/>
                <a:gridCol w="1809750"/>
                <a:gridCol w="2190750"/>
                <a:gridCol w="2619375"/>
                <a:gridCol w="2619375"/>
              </a:tblGrid>
              <a:tr h="504825">
                <a:tc>
                  <a:txBody>
                    <a:bodyPr/>
                    <a:lstStyle/>
                    <a:p>
                      <a:r>
                        <a:rPr sz="1800" b="1">
                          <a:solidFill>
                            <a:srgbClr val="FFFFFF"/>
                          </a:solidFill>
                          <a:latin typeface="Arial"/>
                          <a:ea typeface="Arial"/>
                          <a:cs typeface="Arial"/>
                        </a:rPr>
                        <a:t>N</a:t>
                      </a:r>
                    </a:p>
                  </a:txBody>
                  <a:tcPr marL="114300" marR="114300" marT="95250" marB="95250" anchor="ctr">
                    <a:lnL w="9525">
                      <a:solidFill>
                        <a:srgbClr val="D7E0E7"/>
                      </a:solidFill>
                      <a:prstDash val="solid"/>
                    </a:lnL>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c>
                  <a:txBody>
                    <a:bodyPr/>
                    <a:lstStyle/>
                    <a:p>
                      <a:r>
                        <a:rPr sz="1800" b="1">
                          <a:solidFill>
                            <a:srgbClr val="FFFFFF"/>
                          </a:solidFill>
                          <a:latin typeface="Arial"/>
                          <a:ea typeface="Arial"/>
                          <a:cs typeface="Arial"/>
                        </a:rPr>
                        <a:t>Converged</a:t>
                      </a:r>
                    </a:p>
                  </a:txBody>
                  <a:tcPr marL="114300" marR="114300" marT="95250" marB="95250" anchor="ctr">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c>
                  <a:txBody>
                    <a:bodyPr/>
                    <a:lstStyle/>
                    <a:p>
                      <a:r>
                        <a:rPr sz="1800" b="1">
                          <a:solidFill>
                            <a:srgbClr val="FFFFFF"/>
                          </a:solidFill>
                          <a:latin typeface="Arial"/>
                          <a:ea typeface="Arial"/>
                          <a:cs typeface="Arial"/>
                        </a:rPr>
                        <a:t>MAE p</a:t>
                      </a:r>
                    </a:p>
                  </a:txBody>
                  <a:tcPr marL="114300" marR="114300" marT="95250" marB="95250" anchor="ctr">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c>
                  <a:txBody>
                    <a:bodyPr/>
                    <a:lstStyle/>
                    <a:p>
                      <a:r>
                        <a:rPr sz="1800" b="1">
                          <a:solidFill>
                            <a:srgbClr val="FFFFFF"/>
                          </a:solidFill>
                          <a:latin typeface="Arial"/>
                          <a:ea typeface="Arial"/>
                          <a:cs typeface="Arial"/>
                        </a:rPr>
                        <a:t>MAE s1 (dB)</a:t>
                      </a:r>
                    </a:p>
                  </a:txBody>
                  <a:tcPr marL="114300" marR="114300" marT="95250" marB="95250" anchor="ctr">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c>
                  <a:txBody>
                    <a:bodyPr/>
                    <a:lstStyle/>
                    <a:p>
                      <a:r>
                        <a:rPr sz="1800" b="1">
                          <a:solidFill>
                            <a:srgbClr val="FFFFFF"/>
                          </a:solidFill>
                          <a:latin typeface="Arial"/>
                          <a:ea typeface="Arial"/>
                          <a:cs typeface="Arial"/>
                        </a:rPr>
                        <a:t>MAE s2 (dB)</a:t>
                      </a:r>
                    </a:p>
                  </a:txBody>
                  <a:tcPr marL="114300" marR="114300" marT="95250" marB="95250" anchor="ctr">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r>
              <a:tr h="504825">
                <a:tc>
                  <a:txBody>
                    <a:bodyPr/>
                    <a:lstStyle/>
                    <a:p>
                      <a:r>
                        <a:rPr sz="1800" b="0">
                          <a:solidFill>
                            <a:srgbClr val="17324D"/>
                          </a:solidFill>
                          <a:latin typeface="Arial"/>
                          <a:ea typeface="Arial"/>
                          <a:cs typeface="Arial"/>
                        </a:rPr>
                        <a:t>100</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19/20</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0.1048</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0.1671</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0.4036</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r>
              <a:tr h="504825">
                <a:tc>
                  <a:txBody>
                    <a:bodyPr/>
                    <a:lstStyle/>
                    <a:p>
                      <a:r>
                        <a:rPr sz="1800" b="0">
                          <a:solidFill>
                            <a:srgbClr val="17324D"/>
                          </a:solidFill>
                          <a:latin typeface="Arial"/>
                          <a:ea typeface="Arial"/>
                          <a:cs typeface="Arial"/>
                        </a:rPr>
                        <a:t>500</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EAF1F5"/>
                    </a:solidFill>
                  </a:tcPr>
                </a:tc>
                <a:tc>
                  <a:txBody>
                    <a:bodyPr/>
                    <a:lstStyle/>
                    <a:p>
                      <a:r>
                        <a:rPr sz="1800" b="0">
                          <a:solidFill>
                            <a:srgbClr val="17324D"/>
                          </a:solidFill>
                          <a:latin typeface="Arial"/>
                          <a:ea typeface="Arial"/>
                          <a:cs typeface="Arial"/>
                        </a:rPr>
                        <a:t>20/20</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c>
                  <a:txBody>
                    <a:bodyPr/>
                    <a:lstStyle/>
                    <a:p>
                      <a:r>
                        <a:rPr sz="1800" b="0">
                          <a:solidFill>
                            <a:srgbClr val="17324D"/>
                          </a:solidFill>
                          <a:latin typeface="Arial"/>
                          <a:ea typeface="Arial"/>
                          <a:cs typeface="Arial"/>
                        </a:rPr>
                        <a:t>0.0375</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c>
                  <a:txBody>
                    <a:bodyPr/>
                    <a:lstStyle/>
                    <a:p>
                      <a:r>
                        <a:rPr sz="1800" b="0">
                          <a:solidFill>
                            <a:srgbClr val="17324D"/>
                          </a:solidFill>
                          <a:latin typeface="Arial"/>
                          <a:ea typeface="Arial"/>
                          <a:cs typeface="Arial"/>
                        </a:rPr>
                        <a:t>0.0509</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c>
                  <a:txBody>
                    <a:bodyPr/>
                    <a:lstStyle/>
                    <a:p>
                      <a:r>
                        <a:rPr sz="1800" b="0">
                          <a:solidFill>
                            <a:srgbClr val="17324D"/>
                          </a:solidFill>
                          <a:latin typeface="Arial"/>
                          <a:ea typeface="Arial"/>
                          <a:cs typeface="Arial"/>
                        </a:rPr>
                        <a:t>0.1230</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r>
              <a:tr h="504825">
                <a:tc>
                  <a:txBody>
                    <a:bodyPr/>
                    <a:lstStyle/>
                    <a:p>
                      <a:r>
                        <a:rPr sz="1800" b="0">
                          <a:solidFill>
                            <a:srgbClr val="17324D"/>
                          </a:solidFill>
                          <a:latin typeface="Arial"/>
                          <a:ea typeface="Arial"/>
                          <a:cs typeface="Arial"/>
                        </a:rPr>
                        <a:t>1,000</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20/20</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0.0381</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0.0501</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0.1140</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r>
              <a:tr h="504825">
                <a:tc>
                  <a:txBody>
                    <a:bodyPr/>
                    <a:lstStyle/>
                    <a:p>
                      <a:r>
                        <a:rPr sz="1800" b="0">
                          <a:solidFill>
                            <a:srgbClr val="17324D"/>
                          </a:solidFill>
                          <a:latin typeface="Arial"/>
                          <a:ea typeface="Arial"/>
                          <a:cs typeface="Arial"/>
                        </a:rPr>
                        <a:t>5,000</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EAF1F5"/>
                    </a:solidFill>
                  </a:tcPr>
                </a:tc>
                <a:tc>
                  <a:txBody>
                    <a:bodyPr/>
                    <a:lstStyle/>
                    <a:p>
                      <a:r>
                        <a:rPr sz="1800" b="0">
                          <a:solidFill>
                            <a:srgbClr val="17324D"/>
                          </a:solidFill>
                          <a:latin typeface="Arial"/>
                          <a:ea typeface="Arial"/>
                          <a:cs typeface="Arial"/>
                        </a:rPr>
                        <a:t>20/20</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c>
                  <a:txBody>
                    <a:bodyPr/>
                    <a:lstStyle/>
                    <a:p>
                      <a:r>
                        <a:rPr sz="1800" b="0">
                          <a:solidFill>
                            <a:srgbClr val="17324D"/>
                          </a:solidFill>
                          <a:latin typeface="Arial"/>
                          <a:ea typeface="Arial"/>
                          <a:cs typeface="Arial"/>
                        </a:rPr>
                        <a:t>0.0158</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c>
                  <a:txBody>
                    <a:bodyPr/>
                    <a:lstStyle/>
                    <a:p>
                      <a:r>
                        <a:rPr sz="1800" b="0">
                          <a:solidFill>
                            <a:srgbClr val="17324D"/>
                          </a:solidFill>
                          <a:latin typeface="Arial"/>
                          <a:ea typeface="Arial"/>
                          <a:cs typeface="Arial"/>
                        </a:rPr>
                        <a:t>0.0194</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c>
                  <a:txBody>
                    <a:bodyPr/>
                    <a:lstStyle/>
                    <a:p>
                      <a:r>
                        <a:rPr sz="1800" b="0">
                          <a:solidFill>
                            <a:srgbClr val="17324D"/>
                          </a:solidFill>
                          <a:latin typeface="Arial"/>
                          <a:ea typeface="Arial"/>
                          <a:cs typeface="Arial"/>
                        </a:rPr>
                        <a:t>0.0479</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r>
              <a:tr h="504825">
                <a:tc>
                  <a:txBody>
                    <a:bodyPr/>
                    <a:lstStyle/>
                    <a:p>
                      <a:r>
                        <a:rPr sz="1800" b="0">
                          <a:solidFill>
                            <a:srgbClr val="17324D"/>
                          </a:solidFill>
                          <a:latin typeface="Arial"/>
                          <a:ea typeface="Arial"/>
                          <a:cs typeface="Arial"/>
                        </a:rPr>
                        <a:t>10,000</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20/20</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0.0109</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0.0149</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1800" b="0">
                          <a:solidFill>
                            <a:srgbClr val="17324D"/>
                          </a:solidFill>
                          <a:latin typeface="Arial"/>
                          <a:ea typeface="Arial"/>
                          <a:cs typeface="Arial"/>
                        </a:rPr>
                        <a:t>0.0325</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98B38B3-A9FB-43E6-A29F-DB45A8645AD6}"/>
              </a:ext>
            </a:extLst>
          </p:cNvPr>
          <p:cNvSpPr>
            <a:spLocks xmlns:a="http://schemas.openxmlformats.org/drawingml/2006/main" noGrp="1"/>
          </p:cNvSpPr>
          <p:nvPr/>
        </p:nvSpPr>
        <p:spPr>
          <a:xfrm xmlns:a="http://schemas.openxmlformats.org/drawingml/2006/main">
            <a:off x="628650" y="48958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6B87"/>
                </a:solidFill>
                <a:latin typeface="Arial"/>
                <a:ea typeface="Arial"/>
                <a:cs typeface="Arial"/>
              </a:defRPr>
            </a:defPPr>
            <a:lvl1pPr>
              <a:defRPr sz="2100" b="1">
                <a:solidFill>
                  <a:srgbClr val="176B87"/>
                </a:solidFill>
                <a:latin typeface="Arial"/>
                <a:ea typeface="Arial"/>
                <a:cs typeface="Arial"/>
              </a:defRPr>
            </a:lvl1pPr>
            <a:lvl2pPr>
              <a:defRPr sz="2100" b="1">
                <a:solidFill>
                  <a:srgbClr val="176B87"/>
                </a:solidFill>
                <a:latin typeface="Arial"/>
                <a:ea typeface="Arial"/>
                <a:cs typeface="Arial"/>
              </a:defRPr>
            </a:lvl2pPr>
            <a:lvl3pPr>
              <a:defRPr sz="2100" b="1">
                <a:solidFill>
                  <a:srgbClr val="176B87"/>
                </a:solidFill>
                <a:latin typeface="Arial"/>
                <a:ea typeface="Arial"/>
                <a:cs typeface="Arial"/>
              </a:defRPr>
            </a:lvl3pPr>
            <a:lvl4pPr>
              <a:defRPr sz="2100" b="1">
                <a:solidFill>
                  <a:srgbClr val="176B87"/>
                </a:solidFill>
                <a:latin typeface="Arial"/>
                <a:ea typeface="Arial"/>
                <a:cs typeface="Arial"/>
              </a:defRPr>
            </a:lvl4pPr>
            <a:lvl5pPr>
              <a:defRPr sz="2100" b="1">
                <a:solidFill>
                  <a:srgbClr val="176B87"/>
                </a:solidFill>
                <a:latin typeface="Arial"/>
                <a:ea typeface="Arial"/>
                <a:cs typeface="Arial"/>
              </a:defRPr>
            </a:lvl5pPr>
            <a:lvl6pPr>
              <a:defRPr sz="2100" b="1">
                <a:solidFill>
                  <a:srgbClr val="176B87"/>
                </a:solidFill>
                <a:latin typeface="Arial"/>
                <a:ea typeface="Arial"/>
                <a:cs typeface="Arial"/>
              </a:defRPr>
            </a:lvl6pPr>
            <a:lvl7pPr>
              <a:defRPr sz="2100" b="1">
                <a:solidFill>
                  <a:srgbClr val="176B87"/>
                </a:solidFill>
                <a:latin typeface="Arial"/>
                <a:ea typeface="Arial"/>
                <a:cs typeface="Arial"/>
              </a:defRPr>
            </a:lvl7pPr>
            <a:lvl8pPr>
              <a:defRPr sz="2100" b="1">
                <a:solidFill>
                  <a:srgbClr val="176B87"/>
                </a:solidFill>
                <a:latin typeface="Arial"/>
                <a:ea typeface="Arial"/>
                <a:cs typeface="Arial"/>
              </a:defRPr>
            </a:lvl8pPr>
            <a:lvl9pPr>
              <a:defRPr sz="2100" b="1">
                <a:solidFill>
                  <a:srgbClr val="176B87"/>
                </a:solidFill>
                <a:latin typeface="Arial"/>
                <a:ea typeface="Arial"/>
                <a:cs typeface="Arial"/>
              </a:defRPr>
            </a:lvl9pPr>
          </a:lstStyle>
          <a:p xmlns:a="http://schemas.openxmlformats.org/drawingml/2006/main">
            <a:pPr>
              <a:defRPr sz="2100" b="1">
                <a:solidFill>
                  <a:srgbClr val="176B87"/>
                </a:solidFill>
                <a:latin typeface="Arial"/>
                <a:ea typeface="Arial"/>
                <a:cs typeface="Arial"/>
              </a:defRPr>
            </a:pPr>
            <a:r>
              <a:rPr sz="2100" b="1">
                <a:solidFill>
                  <a:srgbClr val="176B87"/>
                </a:solidFill>
                <a:latin typeface="Arial"/>
                <a:ea typeface="Arial"/>
                <a:cs typeface="Arial"/>
              </a:rPr>
              <a:t>20 random starts on one N = 5,000 sample:</a:t>
            </a:r>
          </a:p>
          <a:p xmlns:a="http://schemas.openxmlformats.org/drawingml/2006/main">
            <a:pPr>
              <a:defRPr sz="2100" b="1">
                <a:solidFill>
                  <a:srgbClr val="176B87"/>
                </a:solidFill>
                <a:latin typeface="Arial"/>
                <a:ea typeface="Arial"/>
                <a:cs typeface="Arial"/>
              </a:defRPr>
            </a:pPr>
            <a:r>
              <a:rPr sz="2100" b="1">
                <a:solidFill>
                  <a:srgbClr val="176B87"/>
                </a:solidFill>
                <a:latin typeface="Arial"/>
                <a:ea typeface="Arial"/>
                <a:cs typeface="Arial"/>
              </a:rPr>
              <a:t>20/20 met tolerance in 85-150 iterations, with nearly identical estimates.</a:t>
            </a:r>
          </a:p>
        </p:txBody>
      </p:sp>
      <p:sp>
        <p:nvSpPr>
          <p:cNvPr id="6" name="">
            <a:extLst xmlns:a="http://schemas.openxmlformats.org/drawingml/2006/main">
              <a:ext uri="{FF2B5EF4-FFF2-40B4-BE49-F238E27FC236}">
                <a16:creationId xmlns:a16="http://schemas.microsoft.com/office/drawing/2014/main" id="{851DF178-9186-4808-8D33-BD0F047379B1}"/>
              </a:ext>
            </a:extLst>
          </p:cNvPr>
          <p:cNvSpPr>
            <a:spLocks xmlns:a="http://schemas.openxmlformats.org/drawingml/2006/main" noGrp="1"/>
          </p:cNvSpPr>
          <p:nvPr/>
        </p:nvSpPr>
        <p:spPr>
          <a:xfrm xmlns:a="http://schemas.openxmlformats.org/drawingml/2006/main">
            <a:off x="628650" y="59150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95925"/>
                </a:solidFill>
                <a:latin typeface="Arial"/>
                <a:ea typeface="Arial"/>
                <a:cs typeface="Arial"/>
              </a:defRPr>
            </a:defPPr>
            <a:lvl1pPr>
              <a:defRPr sz="1575" b="0">
                <a:solidFill>
                  <a:srgbClr val="B95925"/>
                </a:solidFill>
                <a:latin typeface="Arial"/>
                <a:ea typeface="Arial"/>
                <a:cs typeface="Arial"/>
              </a:defRPr>
            </a:lvl1pPr>
            <a:lvl2pPr>
              <a:defRPr sz="1575" b="0">
                <a:solidFill>
                  <a:srgbClr val="B95925"/>
                </a:solidFill>
                <a:latin typeface="Arial"/>
                <a:ea typeface="Arial"/>
                <a:cs typeface="Arial"/>
              </a:defRPr>
            </a:lvl2pPr>
            <a:lvl3pPr>
              <a:defRPr sz="1575" b="0">
                <a:solidFill>
                  <a:srgbClr val="B95925"/>
                </a:solidFill>
                <a:latin typeface="Arial"/>
                <a:ea typeface="Arial"/>
                <a:cs typeface="Arial"/>
              </a:defRPr>
            </a:lvl3pPr>
            <a:lvl4pPr>
              <a:defRPr sz="1575" b="0">
                <a:solidFill>
                  <a:srgbClr val="B95925"/>
                </a:solidFill>
                <a:latin typeface="Arial"/>
                <a:ea typeface="Arial"/>
                <a:cs typeface="Arial"/>
              </a:defRPr>
            </a:lvl4pPr>
            <a:lvl5pPr>
              <a:defRPr sz="1575" b="0">
                <a:solidFill>
                  <a:srgbClr val="B95925"/>
                </a:solidFill>
                <a:latin typeface="Arial"/>
                <a:ea typeface="Arial"/>
                <a:cs typeface="Arial"/>
              </a:defRPr>
            </a:lvl5pPr>
            <a:lvl6pPr>
              <a:defRPr sz="1575" b="0">
                <a:solidFill>
                  <a:srgbClr val="B95925"/>
                </a:solidFill>
                <a:latin typeface="Arial"/>
                <a:ea typeface="Arial"/>
                <a:cs typeface="Arial"/>
              </a:defRPr>
            </a:lvl6pPr>
            <a:lvl7pPr>
              <a:defRPr sz="1575" b="0">
                <a:solidFill>
                  <a:srgbClr val="B95925"/>
                </a:solidFill>
                <a:latin typeface="Arial"/>
                <a:ea typeface="Arial"/>
                <a:cs typeface="Arial"/>
              </a:defRPr>
            </a:lvl7pPr>
            <a:lvl8pPr>
              <a:defRPr sz="1575" b="0">
                <a:solidFill>
                  <a:srgbClr val="B95925"/>
                </a:solidFill>
                <a:latin typeface="Arial"/>
                <a:ea typeface="Arial"/>
                <a:cs typeface="Arial"/>
              </a:defRPr>
            </a:lvl8pPr>
            <a:lvl9pPr>
              <a:defRPr sz="1575" b="0">
                <a:solidFill>
                  <a:srgbClr val="B95925"/>
                </a:solidFill>
                <a:latin typeface="Arial"/>
                <a:ea typeface="Arial"/>
                <a:cs typeface="Arial"/>
              </a:defRPr>
            </a:lvl9pPr>
          </a:lstStyle>
          <a:p xmlns:a="http://schemas.openxmlformats.org/drawingml/2006/main">
            <a:pPr>
              <a:defRPr sz="1575" b="0">
                <a:solidFill>
                  <a:srgbClr val="B95925"/>
                </a:solidFill>
                <a:latin typeface="Arial"/>
                <a:ea typeface="Arial"/>
                <a:cs typeface="Arial"/>
              </a:defRPr>
            </a:pPr>
            <a:r>
              <a:rPr sz="1575" b="0">
                <a:solidFill>
                  <a:srgbClr val="B95925"/>
                </a:solidFill>
                <a:latin typeface="Arial"/>
                <a:ea typeface="Arial"/>
                <a:cs typeface="Arial"/>
              </a:rPr>
              <a:t>Recovery improves broadly with sample size under the model used to generate the data.</a:t>
            </a:r>
          </a:p>
        </p:txBody>
      </p:sp>
    </p:spTree>
    <p:extLst>
      <p:ext uri="{BB962C8B-B14F-4D97-AF65-F5344CB8AC3E}">
        <p14:creationId xmlns:p14="http://schemas.microsoft.com/office/powerpoint/2010/main" val="21271966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812777-4834-423A-9F4A-ADB612F43B0C}"/>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Fisher scaling changes regularization</a:t>
            </a:r>
          </a:p>
        </p:txBody>
      </p:sp>
      <p:sp>
        <p:nvSpPr>
          <p:cNvPr id="2" name="">
            <a:extLst xmlns:a="http://schemas.openxmlformats.org/drawingml/2006/main">
              <a:ext uri="{FF2B5EF4-FFF2-40B4-BE49-F238E27FC236}">
                <a16:creationId xmlns:a16="http://schemas.microsoft.com/office/drawing/2014/main" id="{8B961E25-FDA2-40B1-852E-576F9EBA4730}"/>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035FCBBE-722C-4738-9148-FBD2EFBE4E7F}"/>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A44FB4A0-5020-4F31-89CE-D9D210B4EA3E}"/>
              </a:ext>
            </a:extLst>
          </p:cNvPr>
          <p:cNvSpPr>
            <a:spLocks xmlns:a="http://schemas.openxmlformats.org/drawingml/2006/main" noGrp="1"/>
          </p:cNvSpPr>
          <p:nvPr/>
        </p:nvSpPr>
        <p:spPr>
          <a:xfrm xmlns:a="http://schemas.openxmlformats.org/drawingml/2006/main">
            <a:off x="628650" y="1485900"/>
            <a:ext cx="1085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324D"/>
                </a:solidFill>
                <a:latin typeface="Arial"/>
                <a:ea typeface="Arial"/>
                <a:cs typeface="Arial"/>
              </a:defRPr>
            </a:defPPr>
            <a:lvl1pPr>
              <a:defRPr sz="2325" b="0">
                <a:solidFill>
                  <a:srgbClr val="17324D"/>
                </a:solidFill>
                <a:latin typeface="Arial"/>
                <a:ea typeface="Arial"/>
                <a:cs typeface="Arial"/>
              </a:defRPr>
            </a:lvl1pPr>
            <a:lvl2pPr>
              <a:defRPr sz="2325" b="0">
                <a:solidFill>
                  <a:srgbClr val="17324D"/>
                </a:solidFill>
                <a:latin typeface="Arial"/>
                <a:ea typeface="Arial"/>
                <a:cs typeface="Arial"/>
              </a:defRPr>
            </a:lvl2pPr>
            <a:lvl3pPr>
              <a:defRPr sz="2325" b="0">
                <a:solidFill>
                  <a:srgbClr val="17324D"/>
                </a:solidFill>
                <a:latin typeface="Arial"/>
                <a:ea typeface="Arial"/>
                <a:cs typeface="Arial"/>
              </a:defRPr>
            </a:lvl3pPr>
            <a:lvl4pPr>
              <a:defRPr sz="2325" b="0">
                <a:solidFill>
                  <a:srgbClr val="17324D"/>
                </a:solidFill>
                <a:latin typeface="Arial"/>
                <a:ea typeface="Arial"/>
                <a:cs typeface="Arial"/>
              </a:defRPr>
            </a:lvl4pPr>
            <a:lvl5pPr>
              <a:defRPr sz="2325" b="0">
                <a:solidFill>
                  <a:srgbClr val="17324D"/>
                </a:solidFill>
                <a:latin typeface="Arial"/>
                <a:ea typeface="Arial"/>
                <a:cs typeface="Arial"/>
              </a:defRPr>
            </a:lvl5pPr>
            <a:lvl6pPr>
              <a:defRPr sz="2325" b="0">
                <a:solidFill>
                  <a:srgbClr val="17324D"/>
                </a:solidFill>
                <a:latin typeface="Arial"/>
                <a:ea typeface="Arial"/>
                <a:cs typeface="Arial"/>
              </a:defRPr>
            </a:lvl6pPr>
            <a:lvl7pPr>
              <a:defRPr sz="2325" b="0">
                <a:solidFill>
                  <a:srgbClr val="17324D"/>
                </a:solidFill>
                <a:latin typeface="Arial"/>
                <a:ea typeface="Arial"/>
                <a:cs typeface="Arial"/>
              </a:defRPr>
            </a:lvl7pPr>
            <a:lvl8pPr>
              <a:defRPr sz="2325" b="0">
                <a:solidFill>
                  <a:srgbClr val="17324D"/>
                </a:solidFill>
                <a:latin typeface="Arial"/>
                <a:ea typeface="Arial"/>
                <a:cs typeface="Arial"/>
              </a:defRPr>
            </a:lvl8pPr>
            <a:lvl9pPr>
              <a:defRPr sz="2325" b="0">
                <a:solidFill>
                  <a:srgbClr val="17324D"/>
                </a:solidFill>
                <a:latin typeface="Arial"/>
                <a:ea typeface="Arial"/>
                <a:cs typeface="Arial"/>
              </a:defRPr>
            </a:lvl9pPr>
          </a:lstStyle>
          <a:p xmlns:a="http://schemas.openxmlformats.org/drawingml/2006/main">
            <a:pPr>
              <a:defRPr sz="2325" b="0">
                <a:solidFill>
                  <a:srgbClr val="17324D"/>
                </a:solidFill>
                <a:latin typeface="Arial"/>
                <a:ea typeface="Arial"/>
                <a:cs typeface="Arial"/>
              </a:defRPr>
            </a:pPr>
            <a:r>
              <a:rPr sz="2325" b="0">
                <a:solidFill>
                  <a:srgbClr val="17324D"/>
                </a:solidFill>
                <a:latin typeface="Arial"/>
                <a:ea typeface="Arial"/>
                <a:cs typeface="Arial"/>
              </a:rPr>
              <a:t>Classical RTI</a:t>
            </a:r>
          </a:p>
          <a:p xmlns:a="http://schemas.openxmlformats.org/drawingml/2006/main">
            <a:pPr>
              <a:defRPr sz="2325" b="0">
                <a:solidFill>
                  <a:srgbClr val="17324D"/>
                </a:solidFill>
                <a:latin typeface="Arial"/>
                <a:ea typeface="Arial"/>
                <a:cs typeface="Arial"/>
              </a:defRPr>
            </a:pPr>
            <a:r>
              <a:rPr sz="2325" b="0">
                <a:solidFill>
                  <a:srgbClr val="17324D"/>
                </a:solidFill>
                <a:latin typeface="Arial"/>
                <a:ea typeface="Arial"/>
                <a:cs typeface="Arial"/>
              </a:rPr>
              <a:t>x_hat = (W^T W + alpha L)^(-1) W^T y</a:t>
            </a:r>
          </a:p>
        </p:txBody>
      </p:sp>
      <p:sp>
        <p:nvSpPr>
          <p:cNvPr id="5" name="">
            <a:extLst xmlns:a="http://schemas.openxmlformats.org/drawingml/2006/main">
              <a:ext uri="{FF2B5EF4-FFF2-40B4-BE49-F238E27FC236}">
                <a16:creationId xmlns:a16="http://schemas.microsoft.com/office/drawing/2014/main" id="{E66EFC70-2AF6-4D4B-9F7D-26263DABF8C5}"/>
              </a:ext>
            </a:extLst>
          </p:cNvPr>
          <p:cNvSpPr>
            <a:spLocks xmlns:a="http://schemas.openxmlformats.org/drawingml/2006/main" noGrp="1"/>
          </p:cNvSpPr>
          <p:nvPr/>
        </p:nvSpPr>
        <p:spPr>
          <a:xfrm xmlns:a="http://schemas.openxmlformats.org/drawingml/2006/main">
            <a:off x="628650" y="2962275"/>
            <a:ext cx="1085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324D"/>
                </a:solidFill>
                <a:latin typeface="Arial"/>
                <a:ea typeface="Arial"/>
                <a:cs typeface="Arial"/>
              </a:defRPr>
            </a:defPPr>
            <a:lvl1pPr>
              <a:defRPr sz="2250" b="0">
                <a:solidFill>
                  <a:srgbClr val="17324D"/>
                </a:solidFill>
                <a:latin typeface="Arial"/>
                <a:ea typeface="Arial"/>
                <a:cs typeface="Arial"/>
              </a:defRPr>
            </a:lvl1pPr>
            <a:lvl2pPr>
              <a:defRPr sz="2250" b="0">
                <a:solidFill>
                  <a:srgbClr val="17324D"/>
                </a:solidFill>
                <a:latin typeface="Arial"/>
                <a:ea typeface="Arial"/>
                <a:cs typeface="Arial"/>
              </a:defRPr>
            </a:lvl2pPr>
            <a:lvl3pPr>
              <a:defRPr sz="2250" b="0">
                <a:solidFill>
                  <a:srgbClr val="17324D"/>
                </a:solidFill>
                <a:latin typeface="Arial"/>
                <a:ea typeface="Arial"/>
                <a:cs typeface="Arial"/>
              </a:defRPr>
            </a:lvl3pPr>
            <a:lvl4pPr>
              <a:defRPr sz="2250" b="0">
                <a:solidFill>
                  <a:srgbClr val="17324D"/>
                </a:solidFill>
                <a:latin typeface="Arial"/>
                <a:ea typeface="Arial"/>
                <a:cs typeface="Arial"/>
              </a:defRPr>
            </a:lvl4pPr>
            <a:lvl5pPr>
              <a:defRPr sz="2250" b="0">
                <a:solidFill>
                  <a:srgbClr val="17324D"/>
                </a:solidFill>
                <a:latin typeface="Arial"/>
                <a:ea typeface="Arial"/>
                <a:cs typeface="Arial"/>
              </a:defRPr>
            </a:lvl5pPr>
            <a:lvl6pPr>
              <a:defRPr sz="2250" b="0">
                <a:solidFill>
                  <a:srgbClr val="17324D"/>
                </a:solidFill>
                <a:latin typeface="Arial"/>
                <a:ea typeface="Arial"/>
                <a:cs typeface="Arial"/>
              </a:defRPr>
            </a:lvl6pPr>
            <a:lvl7pPr>
              <a:defRPr sz="2250" b="0">
                <a:solidFill>
                  <a:srgbClr val="17324D"/>
                </a:solidFill>
                <a:latin typeface="Arial"/>
                <a:ea typeface="Arial"/>
                <a:cs typeface="Arial"/>
              </a:defRPr>
            </a:lvl7pPr>
            <a:lvl8pPr>
              <a:defRPr sz="2250" b="0">
                <a:solidFill>
                  <a:srgbClr val="17324D"/>
                </a:solidFill>
                <a:latin typeface="Arial"/>
                <a:ea typeface="Arial"/>
                <a:cs typeface="Arial"/>
              </a:defRPr>
            </a:lvl8pPr>
            <a:lvl9pPr>
              <a:defRPr sz="2250" b="0">
                <a:solidFill>
                  <a:srgbClr val="17324D"/>
                </a:solidFill>
                <a:latin typeface="Arial"/>
                <a:ea typeface="Arial"/>
                <a:cs typeface="Arial"/>
              </a:defRPr>
            </a:lvl9pPr>
          </a:lstStyle>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Exploratory extension</a:t>
            </a:r>
          </a:p>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x_hat_F = (gamma W^T W + alpha L)^(-1) gamma W^T y</a:t>
            </a:r>
          </a:p>
        </p:txBody>
      </p:sp>
      <p:sp>
        <p:nvSpPr>
          <p:cNvPr id="6" name="">
            <a:extLst xmlns:a="http://schemas.openxmlformats.org/drawingml/2006/main">
              <a:ext uri="{FF2B5EF4-FFF2-40B4-BE49-F238E27FC236}">
                <a16:creationId xmlns:a16="http://schemas.microsoft.com/office/drawing/2014/main" id="{F5D4582D-7A83-44A9-A67E-9F8C7B41051A}"/>
              </a:ext>
            </a:extLst>
          </p:cNvPr>
          <p:cNvSpPr>
            <a:spLocks xmlns:a="http://schemas.openxmlformats.org/drawingml/2006/main" noGrp="1"/>
          </p:cNvSpPr>
          <p:nvPr/>
        </p:nvSpPr>
        <p:spPr>
          <a:xfrm xmlns:a="http://schemas.openxmlformats.org/drawingml/2006/main">
            <a:off x="628650" y="442912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6B87"/>
                </a:solidFill>
                <a:latin typeface="Arial"/>
                <a:ea typeface="Arial"/>
                <a:cs typeface="Arial"/>
              </a:defRPr>
            </a:defPPr>
            <a:lvl1pPr>
              <a:defRPr sz="2400" b="1">
                <a:solidFill>
                  <a:srgbClr val="176B87"/>
                </a:solidFill>
                <a:latin typeface="Arial"/>
                <a:ea typeface="Arial"/>
                <a:cs typeface="Arial"/>
              </a:defRPr>
            </a:lvl1pPr>
            <a:lvl2pPr>
              <a:defRPr sz="2400" b="1">
                <a:solidFill>
                  <a:srgbClr val="176B87"/>
                </a:solidFill>
                <a:latin typeface="Arial"/>
                <a:ea typeface="Arial"/>
                <a:cs typeface="Arial"/>
              </a:defRPr>
            </a:lvl2pPr>
            <a:lvl3pPr>
              <a:defRPr sz="2400" b="1">
                <a:solidFill>
                  <a:srgbClr val="176B87"/>
                </a:solidFill>
                <a:latin typeface="Arial"/>
                <a:ea typeface="Arial"/>
                <a:cs typeface="Arial"/>
              </a:defRPr>
            </a:lvl3pPr>
            <a:lvl4pPr>
              <a:defRPr sz="2400" b="1">
                <a:solidFill>
                  <a:srgbClr val="176B87"/>
                </a:solidFill>
                <a:latin typeface="Arial"/>
                <a:ea typeface="Arial"/>
                <a:cs typeface="Arial"/>
              </a:defRPr>
            </a:lvl4pPr>
            <a:lvl5pPr>
              <a:defRPr sz="2400" b="1">
                <a:solidFill>
                  <a:srgbClr val="176B87"/>
                </a:solidFill>
                <a:latin typeface="Arial"/>
                <a:ea typeface="Arial"/>
                <a:cs typeface="Arial"/>
              </a:defRPr>
            </a:lvl5pPr>
            <a:lvl6pPr>
              <a:defRPr sz="2400" b="1">
                <a:solidFill>
                  <a:srgbClr val="176B87"/>
                </a:solidFill>
                <a:latin typeface="Arial"/>
                <a:ea typeface="Arial"/>
                <a:cs typeface="Arial"/>
              </a:defRPr>
            </a:lvl6pPr>
            <a:lvl7pPr>
              <a:defRPr sz="2400" b="1">
                <a:solidFill>
                  <a:srgbClr val="176B87"/>
                </a:solidFill>
                <a:latin typeface="Arial"/>
                <a:ea typeface="Arial"/>
                <a:cs typeface="Arial"/>
              </a:defRPr>
            </a:lvl7pPr>
            <a:lvl8pPr>
              <a:defRPr sz="2400" b="1">
                <a:solidFill>
                  <a:srgbClr val="176B87"/>
                </a:solidFill>
                <a:latin typeface="Arial"/>
                <a:ea typeface="Arial"/>
                <a:cs typeface="Arial"/>
              </a:defRPr>
            </a:lvl8pPr>
            <a:lvl9pPr>
              <a:defRPr sz="2400" b="1">
                <a:solidFill>
                  <a:srgbClr val="176B87"/>
                </a:solidFill>
                <a:latin typeface="Arial"/>
                <a:ea typeface="Arial"/>
                <a:cs typeface="Arial"/>
              </a:defRPr>
            </a:lvl9pPr>
          </a:lstStyle>
          <a:p xmlns:a="http://schemas.openxmlformats.org/drawingml/2006/main">
            <a:pPr>
              <a:defRPr sz="2400" b="1">
                <a:solidFill>
                  <a:srgbClr val="176B87"/>
                </a:solidFill>
                <a:latin typeface="Arial"/>
                <a:ea typeface="Arial"/>
                <a:cs typeface="Arial"/>
              </a:defRPr>
            </a:pPr>
            <a:r>
              <a:rPr sz="2400" b="1">
                <a:solidFill>
                  <a:srgbClr val="176B87"/>
                </a:solidFill>
                <a:latin typeface="Arial"/>
                <a:ea typeface="Arial"/>
                <a:cs typeface="Arial"/>
              </a:rPr>
              <a:t>Same RTI form with alpha_effective = alpha / gamma</a:t>
            </a:r>
          </a:p>
          <a:p xmlns:a="http://schemas.openxmlformats.org/drawingml/2006/main">
            <a:pPr>
              <a:defRPr sz="2400" b="1">
                <a:solidFill>
                  <a:srgbClr val="176B87"/>
                </a:solidFill>
                <a:latin typeface="Arial"/>
                <a:ea typeface="Arial"/>
                <a:cs typeface="Arial"/>
              </a:defRPr>
            </a:pPr>
            <a:r>
              <a:rPr sz="2400" b="1">
                <a:solidFill>
                  <a:srgbClr val="176B87"/>
                </a:solidFill>
                <a:latin typeface="Arial"/>
                <a:ea typeface="Arial"/>
                <a:cs typeface="Arial"/>
              </a:rPr>
              <a:t>0.10 / 0.41823 = 0.23910</a:t>
            </a:r>
          </a:p>
        </p:txBody>
      </p:sp>
      <p:sp>
        <p:nvSpPr>
          <p:cNvPr id="7" name="">
            <a:extLst xmlns:a="http://schemas.openxmlformats.org/drawingml/2006/main">
              <a:ext uri="{FF2B5EF4-FFF2-40B4-BE49-F238E27FC236}">
                <a16:creationId xmlns:a16="http://schemas.microsoft.com/office/drawing/2014/main" id="{61BC324D-047F-4F7F-81D8-5132550780F0}"/>
              </a:ext>
            </a:extLst>
          </p:cNvPr>
          <p:cNvSpPr>
            <a:spLocks xmlns:a="http://schemas.openxmlformats.org/drawingml/2006/main" noGrp="1"/>
          </p:cNvSpPr>
          <p:nvPr/>
        </p:nvSpPr>
        <p:spPr>
          <a:xfrm xmlns:a="http://schemas.openxmlformats.org/drawingml/2006/main">
            <a:off x="628650" y="57435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95925"/>
                </a:solidFill>
                <a:latin typeface="Arial"/>
                <a:ea typeface="Arial"/>
                <a:cs typeface="Arial"/>
              </a:defRPr>
            </a:defPPr>
            <a:lvl1pPr>
              <a:defRPr sz="1575" b="0">
                <a:solidFill>
                  <a:srgbClr val="B95925"/>
                </a:solidFill>
                <a:latin typeface="Arial"/>
                <a:ea typeface="Arial"/>
                <a:cs typeface="Arial"/>
              </a:defRPr>
            </a:lvl1pPr>
            <a:lvl2pPr>
              <a:defRPr sz="1575" b="0">
                <a:solidFill>
                  <a:srgbClr val="B95925"/>
                </a:solidFill>
                <a:latin typeface="Arial"/>
                <a:ea typeface="Arial"/>
                <a:cs typeface="Arial"/>
              </a:defRPr>
            </a:lvl2pPr>
            <a:lvl3pPr>
              <a:defRPr sz="1575" b="0">
                <a:solidFill>
                  <a:srgbClr val="B95925"/>
                </a:solidFill>
                <a:latin typeface="Arial"/>
                <a:ea typeface="Arial"/>
                <a:cs typeface="Arial"/>
              </a:defRPr>
            </a:lvl3pPr>
            <a:lvl4pPr>
              <a:defRPr sz="1575" b="0">
                <a:solidFill>
                  <a:srgbClr val="B95925"/>
                </a:solidFill>
                <a:latin typeface="Arial"/>
                <a:ea typeface="Arial"/>
                <a:cs typeface="Arial"/>
              </a:defRPr>
            </a:lvl4pPr>
            <a:lvl5pPr>
              <a:defRPr sz="1575" b="0">
                <a:solidFill>
                  <a:srgbClr val="B95925"/>
                </a:solidFill>
                <a:latin typeface="Arial"/>
                <a:ea typeface="Arial"/>
                <a:cs typeface="Arial"/>
              </a:defRPr>
            </a:lvl5pPr>
            <a:lvl6pPr>
              <a:defRPr sz="1575" b="0">
                <a:solidFill>
                  <a:srgbClr val="B95925"/>
                </a:solidFill>
                <a:latin typeface="Arial"/>
                <a:ea typeface="Arial"/>
                <a:cs typeface="Arial"/>
              </a:defRPr>
            </a:lvl6pPr>
            <a:lvl7pPr>
              <a:defRPr sz="1575" b="0">
                <a:solidFill>
                  <a:srgbClr val="B95925"/>
                </a:solidFill>
                <a:latin typeface="Arial"/>
                <a:ea typeface="Arial"/>
                <a:cs typeface="Arial"/>
              </a:defRPr>
            </a:lvl7pPr>
            <a:lvl8pPr>
              <a:defRPr sz="1575" b="0">
                <a:solidFill>
                  <a:srgbClr val="B95925"/>
                </a:solidFill>
                <a:latin typeface="Arial"/>
                <a:ea typeface="Arial"/>
                <a:cs typeface="Arial"/>
              </a:defRPr>
            </a:lvl8pPr>
            <a:lvl9pPr>
              <a:defRPr sz="1575" b="0">
                <a:solidFill>
                  <a:srgbClr val="B95925"/>
                </a:solidFill>
                <a:latin typeface="Arial"/>
                <a:ea typeface="Arial"/>
                <a:cs typeface="Arial"/>
              </a:defRPr>
            </a:lvl9pPr>
          </a:lstStyle>
          <a:p xmlns:a="http://schemas.openxmlformats.org/drawingml/2006/main">
            <a:pPr>
              <a:defRPr sz="1575" b="0">
                <a:solidFill>
                  <a:srgbClr val="B95925"/>
                </a:solidFill>
                <a:latin typeface="Arial"/>
                <a:ea typeface="Arial"/>
                <a:cs typeface="Arial"/>
              </a:defRPr>
            </a:pPr>
            <a:r>
              <a:rPr sz="1575" b="0">
                <a:solidFill>
                  <a:srgbClr val="B95925"/>
                </a:solidFill>
                <a:latin typeface="Arial"/>
                <a:ea typeface="Arial"/>
                <a:cs typeface="Arial"/>
              </a:rPr>
              <a:t>This comparison alone cannot establish an EM benefit over RTI with tuned regularization.</a:t>
            </a:r>
          </a:p>
        </p:txBody>
      </p:sp>
    </p:spTree>
    <p:extLst>
      <p:ext uri="{BB962C8B-B14F-4D97-AF65-F5344CB8AC3E}">
        <p14:creationId xmlns:p14="http://schemas.microsoft.com/office/powerpoint/2010/main" val="1143608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5DF460-AFEF-4721-B284-03C136731574}"/>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Localization compared with a center control</a:t>
            </a:r>
          </a:p>
        </p:txBody>
      </p:sp>
      <p:sp>
        <p:nvSpPr>
          <p:cNvPr id="2" name="">
            <a:extLst xmlns:a="http://schemas.openxmlformats.org/drawingml/2006/main">
              <a:ext uri="{FF2B5EF4-FFF2-40B4-BE49-F238E27FC236}">
                <a16:creationId xmlns:a16="http://schemas.microsoft.com/office/drawing/2014/main" id="{96B65B11-C197-48A0-9944-BE2D7C3E310D}"/>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D025E4A3-A51E-4EB6-9B73-B8CF2754A460}"/>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81746DA4-6462-4779-8230-84EBAE4B6CCC}"/>
              </a:ext>
            </a:extLst>
          </p:cNvPr>
          <p:cNvGraphicFramePr/>
          <p:nvPr/>
        </p:nvGraphicFramePr>
        <p:xfrm>
          <a:off xmlns:a="http://schemas.openxmlformats.org/drawingml/2006/main" x="628650" y="1581150"/>
          <a:ext xmlns:a="http://schemas.openxmlformats.org/drawingml/2006/main" cx="10763250" cy="2962275"/>
        </p:xfrm>
        <a:graphic xmlns:a="http://schemas.openxmlformats.org/drawingml/2006/main">
          <a:graphicData uri="http://schemas.openxmlformats.org/drawingml/2006/table">
            <a:tbl>
              <a:tblPr firstRow="1" bandRow="0"/>
              <a:tblGrid>
                <a:gridCol w="6286500"/>
                <a:gridCol w="2238375"/>
                <a:gridCol w="2238375"/>
              </a:tblGrid>
              <a:tr h="592455">
                <a:tc>
                  <a:txBody>
                    <a:bodyPr/>
                    <a:lstStyle/>
                    <a:p>
                      <a:r>
                        <a:rPr sz="2025" b="1">
                          <a:solidFill>
                            <a:srgbClr val="FFFFFF"/>
                          </a:solidFill>
                          <a:latin typeface="Arial"/>
                          <a:ea typeface="Arial"/>
                          <a:cs typeface="Arial"/>
                        </a:rPr>
                        <a:t>Method</a:t>
                      </a:r>
                    </a:p>
                  </a:txBody>
                  <a:tcPr marL="114300" marR="114300" marT="95250" marB="95250" anchor="ctr">
                    <a:lnL w="9525">
                      <a:solidFill>
                        <a:srgbClr val="D7E0E7"/>
                      </a:solidFill>
                      <a:prstDash val="solid"/>
                    </a:lnL>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c>
                  <a:txBody>
                    <a:bodyPr/>
                    <a:lstStyle/>
                    <a:p>
                      <a:r>
                        <a:rPr sz="2025" b="1">
                          <a:solidFill>
                            <a:srgbClr val="FFFFFF"/>
                          </a:solidFill>
                          <a:latin typeface="Arial"/>
                          <a:ea typeface="Arial"/>
                          <a:cs typeface="Arial"/>
                        </a:rPr>
                        <a:t>Mean error (m)</a:t>
                      </a:r>
                    </a:p>
                  </a:txBody>
                  <a:tcPr marL="114300" marR="114300" marT="95250" marB="95250" anchor="ctr">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c>
                  <a:txBody>
                    <a:bodyPr/>
                    <a:lstStyle/>
                    <a:p>
                      <a:r>
                        <a:rPr sz="2025" b="1">
                          <a:solidFill>
                            <a:srgbClr val="FFFFFF"/>
                          </a:solidFill>
                          <a:latin typeface="Arial"/>
                          <a:ea typeface="Arial"/>
                          <a:cs typeface="Arial"/>
                        </a:rPr>
                        <a:t>RMSE (m)</a:t>
                      </a:r>
                    </a:p>
                  </a:txBody>
                  <a:tcPr marL="114300" marR="114300" marT="95250" marB="95250" anchor="ctr">
                    <a:lnR w="9525">
                      <a:solidFill>
                        <a:srgbClr val="D7E0E7"/>
                      </a:solidFill>
                      <a:prstDash val="solid"/>
                    </a:lnR>
                    <a:lnT w="9525">
                      <a:solidFill>
                        <a:srgbClr val="D7E0E7"/>
                      </a:solidFill>
                      <a:prstDash val="solid"/>
                    </a:lnT>
                    <a:lnB w="9525">
                      <a:solidFill>
                        <a:srgbClr val="D7E0E7"/>
                      </a:solidFill>
                      <a:prstDash val="solid"/>
                    </a:lnB>
                    <a:solidFill>
                      <a:srgbClr val="17324D"/>
                    </a:solidFill>
                  </a:tcPr>
                </a:tc>
              </a:tr>
              <a:tr h="592455">
                <a:tc>
                  <a:txBody>
                    <a:bodyPr/>
                    <a:lstStyle/>
                    <a:p>
                      <a:r>
                        <a:rPr sz="2025" b="0">
                          <a:solidFill>
                            <a:srgbClr val="17324D"/>
                          </a:solidFill>
                          <a:latin typeface="Arial"/>
                          <a:ea typeface="Arial"/>
                          <a:cs typeface="Arial"/>
                        </a:rPr>
                        <a:t>Always predict room center</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a:lstStyle/>
                    <a:p>
                      <a:r>
                        <a:rPr sz="2025" b="0">
                          <a:solidFill>
                            <a:srgbClr val="17324D"/>
                          </a:solidFill>
                          <a:latin typeface="Arial"/>
                          <a:ea typeface="Arial"/>
                          <a:cs typeface="Arial"/>
                        </a:rPr>
                        <a:t>2.407</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2025" b="0">
                          <a:solidFill>
                            <a:srgbClr val="17324D"/>
                          </a:solidFill>
                          <a:latin typeface="Arial"/>
                          <a:ea typeface="Arial"/>
                          <a:cs typeface="Arial"/>
                        </a:rPr>
                        <a:t>2.562</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r>
              <a:tr h="592455">
                <a:tc>
                  <a:txBody>
                    <a:bodyPr/>
                    <a:lstStyle/>
                    <a:p>
                      <a:r>
                        <a:rPr sz="2025" b="0">
                          <a:solidFill>
                            <a:srgbClr val="17324D"/>
                          </a:solidFill>
                          <a:latin typeface="Arial"/>
                          <a:ea typeface="Arial"/>
                          <a:cs typeface="Arial"/>
                        </a:rPr>
                        <a:t>Classical Tikhonov RTI</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EAF1F5"/>
                    </a:solidFill>
                  </a:tcPr>
                </a:tc>
                <a:tc>
                  <a:txBody>
                    <a:bodyPr/>
                    <a:lstStyle/>
                    <a:p>
                      <a:r>
                        <a:rPr sz="2025" b="0">
                          <a:solidFill>
                            <a:srgbClr val="17324D"/>
                          </a:solidFill>
                          <a:latin typeface="Arial"/>
                          <a:ea typeface="Arial"/>
                          <a:cs typeface="Arial"/>
                        </a:rPr>
                        <a:t>3.244</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c>
                  <a:txBody>
                    <a:bodyPr/>
                    <a:lstStyle/>
                    <a:p>
                      <a:r>
                        <a:rPr sz="2025" b="0">
                          <a:solidFill>
                            <a:srgbClr val="17324D"/>
                          </a:solidFill>
                          <a:latin typeface="Arial"/>
                          <a:ea typeface="Arial"/>
                          <a:cs typeface="Arial"/>
                        </a:rPr>
                        <a:t>3.840</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r>
              <a:tr h="592455">
                <a:tc>
                  <a:txBody>
                    <a:bodyPr/>
                    <a:lstStyle/>
                    <a:p>
                      <a:r>
                        <a:rPr sz="2025" b="0">
                          <a:solidFill>
                            <a:srgbClr val="17324D"/>
                          </a:solidFill>
                          <a:latin typeface="Arial"/>
                          <a:ea typeface="Arial"/>
                          <a:cs typeface="Arial"/>
                        </a:rPr>
                        <a:t>RTI with Fisher scaling</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a:lstStyle/>
                    <a:p>
                      <a:r>
                        <a:rPr sz="2025" b="0">
                          <a:solidFill>
                            <a:srgbClr val="17324D"/>
                          </a:solidFill>
                          <a:latin typeface="Arial"/>
                          <a:ea typeface="Arial"/>
                          <a:cs typeface="Arial"/>
                        </a:rPr>
                        <a:t>3.062</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c>
                  <a:txBody>
                    <a:bodyPr/>
                    <a:lstStyle/>
                    <a:p>
                      <a:r>
                        <a:rPr sz="2025" b="0">
                          <a:solidFill>
                            <a:srgbClr val="17324D"/>
                          </a:solidFill>
                          <a:latin typeface="Arial"/>
                          <a:ea typeface="Arial"/>
                          <a:cs typeface="Arial"/>
                        </a:rPr>
                        <a:t>3.698</a:t>
                      </a:r>
                    </a:p>
                  </a:txBody>
                  <a:tcPr marL="114300" marR="114300" marT="95250" marB="95250" anchor="ctr">
                    <a:lnR w="9525">
                      <a:solidFill>
                        <a:srgbClr val="D7E0E7"/>
                      </a:solidFill>
                      <a:prstDash val="solid"/>
                    </a:lnR>
                    <a:lnB w="9525">
                      <a:solidFill>
                        <a:srgbClr val="D7E0E7"/>
                      </a:solidFill>
                      <a:prstDash val="solid"/>
                    </a:lnB>
                    <a:solidFill>
                      <a:srgbClr val="FFFFFF"/>
                    </a:solidFill>
                  </a:tcPr>
                </a:tc>
              </a:tr>
              <a:tr h="592455">
                <a:tc>
                  <a:txBody>
                    <a:bodyPr/>
                    <a:lstStyle/>
                    <a:p>
                      <a:r>
                        <a:rPr sz="2025" b="0">
                          <a:solidFill>
                            <a:srgbClr val="17324D"/>
                          </a:solidFill>
                          <a:latin typeface="Arial"/>
                          <a:ea typeface="Arial"/>
                          <a:cs typeface="Arial"/>
                        </a:rPr>
                        <a:t>K-NN fingerprints</a:t>
                      </a:r>
                    </a:p>
                  </a:txBody>
                  <a:tcPr marL="114300" marR="114300" marT="95250" marB="95250" anchor="ctr">
                    <a:lnL w="9525">
                      <a:solidFill>
                        <a:srgbClr val="D7E0E7"/>
                      </a:solidFill>
                      <a:prstDash val="solid"/>
                    </a:lnL>
                    <a:lnR w="9525">
                      <a:solidFill>
                        <a:srgbClr val="D7E0E7"/>
                      </a:solidFill>
                      <a:prstDash val="solid"/>
                    </a:lnR>
                    <a:lnB w="9525">
                      <a:solidFill>
                        <a:srgbClr val="D7E0E7"/>
                      </a:solidFill>
                      <a:prstDash val="solid"/>
                    </a:lnB>
                    <a:solidFill>
                      <a:srgbClr val="EAF1F5"/>
                    </a:solidFill>
                  </a:tcPr>
                </a:tc>
                <a:tc>
                  <a:txBody>
                    <a:bodyPr/>
                    <a:lstStyle/>
                    <a:p>
                      <a:r>
                        <a:rPr sz="2025" b="0">
                          <a:solidFill>
                            <a:srgbClr val="17324D"/>
                          </a:solidFill>
                          <a:latin typeface="Arial"/>
                          <a:ea typeface="Arial"/>
                          <a:cs typeface="Arial"/>
                        </a:rPr>
                        <a:t>2.618</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c>
                  <a:txBody>
                    <a:bodyPr/>
                    <a:lstStyle/>
                    <a:p>
                      <a:r>
                        <a:rPr sz="2025" b="0">
                          <a:solidFill>
                            <a:srgbClr val="17324D"/>
                          </a:solidFill>
                          <a:latin typeface="Arial"/>
                          <a:ea typeface="Arial"/>
                          <a:cs typeface="Arial"/>
                        </a:rPr>
                        <a:t>2.891</a:t>
                      </a:r>
                    </a:p>
                  </a:txBody>
                  <a:tcPr marL="114300" marR="114300" marT="95250" marB="95250" anchor="ctr">
                    <a:lnR w="9525">
                      <a:solidFill>
                        <a:srgbClr val="D7E0E7"/>
                      </a:solidFill>
                      <a:prstDash val="solid"/>
                    </a:lnR>
                    <a:lnB w="9525">
                      <a:solidFill>
                        <a:srgbClr val="D7E0E7"/>
                      </a:solidFill>
                      <a:prstDash val="solid"/>
                    </a:lnB>
                    <a:solidFill>
                      <a:srgbClr val="EAF1F5"/>
                    </a:solidFill>
                  </a:tcPr>
                </a:tc>
              </a:tr>
            </a:tbl>
          </a:graphicData>
        </a:graphic>
      </p:graphicFrame>
      <p:sp>
        <p:nvSpPr>
          <p:cNvPr id="5" name="">
            <a:extLst xmlns:a="http://schemas.openxmlformats.org/drawingml/2006/main">
              <a:ext uri="{FF2B5EF4-FFF2-40B4-BE49-F238E27FC236}">
                <a16:creationId xmlns:a16="http://schemas.microsoft.com/office/drawing/2014/main" id="{62B93C28-AE41-4D73-8BDC-F9C5EE336EB3}"/>
              </a:ext>
            </a:extLst>
          </p:cNvPr>
          <p:cNvSpPr>
            <a:spLocks xmlns:a="http://schemas.openxmlformats.org/drawingml/2006/main" noGrp="1"/>
          </p:cNvSpPr>
          <p:nvPr/>
        </p:nvSpPr>
        <p:spPr>
          <a:xfrm xmlns:a="http://schemas.openxmlformats.org/drawingml/2006/main">
            <a:off x="628650" y="49339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B95925"/>
                </a:solidFill>
                <a:latin typeface="Arial"/>
                <a:ea typeface="Arial"/>
                <a:cs typeface="Arial"/>
              </a:defRPr>
            </a:defPPr>
            <a:lvl1pPr>
              <a:defRPr sz="2325" b="1">
                <a:solidFill>
                  <a:srgbClr val="B95925"/>
                </a:solidFill>
                <a:latin typeface="Arial"/>
                <a:ea typeface="Arial"/>
                <a:cs typeface="Arial"/>
              </a:defRPr>
            </a:lvl1pPr>
            <a:lvl2pPr>
              <a:defRPr sz="2325" b="1">
                <a:solidFill>
                  <a:srgbClr val="B95925"/>
                </a:solidFill>
                <a:latin typeface="Arial"/>
                <a:ea typeface="Arial"/>
                <a:cs typeface="Arial"/>
              </a:defRPr>
            </a:lvl2pPr>
            <a:lvl3pPr>
              <a:defRPr sz="2325" b="1">
                <a:solidFill>
                  <a:srgbClr val="B95925"/>
                </a:solidFill>
                <a:latin typeface="Arial"/>
                <a:ea typeface="Arial"/>
                <a:cs typeface="Arial"/>
              </a:defRPr>
            </a:lvl3pPr>
            <a:lvl4pPr>
              <a:defRPr sz="2325" b="1">
                <a:solidFill>
                  <a:srgbClr val="B95925"/>
                </a:solidFill>
                <a:latin typeface="Arial"/>
                <a:ea typeface="Arial"/>
                <a:cs typeface="Arial"/>
              </a:defRPr>
            </a:lvl4pPr>
            <a:lvl5pPr>
              <a:defRPr sz="2325" b="1">
                <a:solidFill>
                  <a:srgbClr val="B95925"/>
                </a:solidFill>
                <a:latin typeface="Arial"/>
                <a:ea typeface="Arial"/>
                <a:cs typeface="Arial"/>
              </a:defRPr>
            </a:lvl5pPr>
            <a:lvl6pPr>
              <a:defRPr sz="2325" b="1">
                <a:solidFill>
                  <a:srgbClr val="B95925"/>
                </a:solidFill>
                <a:latin typeface="Arial"/>
                <a:ea typeface="Arial"/>
                <a:cs typeface="Arial"/>
              </a:defRPr>
            </a:lvl6pPr>
            <a:lvl7pPr>
              <a:defRPr sz="2325" b="1">
                <a:solidFill>
                  <a:srgbClr val="B95925"/>
                </a:solidFill>
                <a:latin typeface="Arial"/>
                <a:ea typeface="Arial"/>
                <a:cs typeface="Arial"/>
              </a:defRPr>
            </a:lvl7pPr>
            <a:lvl8pPr>
              <a:defRPr sz="2325" b="1">
                <a:solidFill>
                  <a:srgbClr val="B95925"/>
                </a:solidFill>
                <a:latin typeface="Arial"/>
                <a:ea typeface="Arial"/>
                <a:cs typeface="Arial"/>
              </a:defRPr>
            </a:lvl8pPr>
            <a:lvl9pPr>
              <a:defRPr sz="2325" b="1">
                <a:solidFill>
                  <a:srgbClr val="B95925"/>
                </a:solidFill>
                <a:latin typeface="Arial"/>
                <a:ea typeface="Arial"/>
                <a:cs typeface="Arial"/>
              </a:defRPr>
            </a:lvl9pPr>
          </a:lstStyle>
          <a:p xmlns:a="http://schemas.openxmlformats.org/drawingml/2006/main">
            <a:pPr>
              <a:defRPr sz="2325" b="1">
                <a:solidFill>
                  <a:srgbClr val="B95925"/>
                </a:solidFill>
                <a:latin typeface="Arial"/>
                <a:ea typeface="Arial"/>
                <a:cs typeface="Arial"/>
              </a:defRPr>
            </a:pPr>
            <a:r>
              <a:rPr sz="2325" b="1">
                <a:solidFill>
                  <a:srgbClr val="B95925"/>
                </a:solidFill>
                <a:latin typeface="Arial"/>
                <a:ea typeface="Arial"/>
                <a:cs typeface="Arial"/>
              </a:rPr>
              <a:t>Every tested signal-based method has higher mean error</a:t>
            </a:r>
          </a:p>
          <a:p xmlns:a="http://schemas.openxmlformats.org/drawingml/2006/main">
            <a:pPr>
              <a:defRPr sz="2325" b="1">
                <a:solidFill>
                  <a:srgbClr val="B95925"/>
                </a:solidFill>
                <a:latin typeface="Arial"/>
                <a:ea typeface="Arial"/>
                <a:cs typeface="Arial"/>
              </a:defRPr>
            </a:pPr>
            <a:r>
              <a:rPr sz="2325" b="1">
                <a:solidFill>
                  <a:srgbClr val="B95925"/>
                </a:solidFill>
                <a:latin typeface="Arial"/>
                <a:ea typeface="Arial"/>
                <a:cs typeface="Arial"/>
              </a:rPr>
              <a:t>than the center control on these 500 queries.</a:t>
            </a:r>
          </a:p>
        </p:txBody>
      </p:sp>
      <p:sp>
        <p:nvSpPr>
          <p:cNvPr id="6" name="">
            <a:extLst xmlns:a="http://schemas.openxmlformats.org/drawingml/2006/main">
              <a:ext uri="{FF2B5EF4-FFF2-40B4-BE49-F238E27FC236}">
                <a16:creationId xmlns:a16="http://schemas.microsoft.com/office/drawing/2014/main" id="{ED255DF4-2C91-4AAB-A343-3B0F80683800}"/>
              </a:ext>
            </a:extLst>
          </p:cNvPr>
          <p:cNvSpPr>
            <a:spLocks xmlns:a="http://schemas.openxmlformats.org/drawingml/2006/main" noGrp="1"/>
          </p:cNvSpPr>
          <p:nvPr/>
        </p:nvSpPr>
        <p:spPr>
          <a:xfrm xmlns:a="http://schemas.openxmlformats.org/drawingml/2006/main">
            <a:off x="628650" y="59721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95925"/>
                </a:solidFill>
                <a:latin typeface="Arial"/>
                <a:ea typeface="Arial"/>
                <a:cs typeface="Arial"/>
              </a:defRPr>
            </a:defPPr>
            <a:lvl1pPr>
              <a:defRPr sz="1575" b="0">
                <a:solidFill>
                  <a:srgbClr val="B95925"/>
                </a:solidFill>
                <a:latin typeface="Arial"/>
                <a:ea typeface="Arial"/>
                <a:cs typeface="Arial"/>
              </a:defRPr>
            </a:lvl1pPr>
            <a:lvl2pPr>
              <a:defRPr sz="1575" b="0">
                <a:solidFill>
                  <a:srgbClr val="B95925"/>
                </a:solidFill>
                <a:latin typeface="Arial"/>
                <a:ea typeface="Arial"/>
                <a:cs typeface="Arial"/>
              </a:defRPr>
            </a:lvl2pPr>
            <a:lvl3pPr>
              <a:defRPr sz="1575" b="0">
                <a:solidFill>
                  <a:srgbClr val="B95925"/>
                </a:solidFill>
                <a:latin typeface="Arial"/>
                <a:ea typeface="Arial"/>
                <a:cs typeface="Arial"/>
              </a:defRPr>
            </a:lvl3pPr>
            <a:lvl4pPr>
              <a:defRPr sz="1575" b="0">
                <a:solidFill>
                  <a:srgbClr val="B95925"/>
                </a:solidFill>
                <a:latin typeface="Arial"/>
                <a:ea typeface="Arial"/>
                <a:cs typeface="Arial"/>
              </a:defRPr>
            </a:lvl4pPr>
            <a:lvl5pPr>
              <a:defRPr sz="1575" b="0">
                <a:solidFill>
                  <a:srgbClr val="B95925"/>
                </a:solidFill>
                <a:latin typeface="Arial"/>
                <a:ea typeface="Arial"/>
                <a:cs typeface="Arial"/>
              </a:defRPr>
            </a:lvl5pPr>
            <a:lvl6pPr>
              <a:defRPr sz="1575" b="0">
                <a:solidFill>
                  <a:srgbClr val="B95925"/>
                </a:solidFill>
                <a:latin typeface="Arial"/>
                <a:ea typeface="Arial"/>
                <a:cs typeface="Arial"/>
              </a:defRPr>
            </a:lvl6pPr>
            <a:lvl7pPr>
              <a:defRPr sz="1575" b="0">
                <a:solidFill>
                  <a:srgbClr val="B95925"/>
                </a:solidFill>
                <a:latin typeface="Arial"/>
                <a:ea typeface="Arial"/>
                <a:cs typeface="Arial"/>
              </a:defRPr>
            </a:lvl7pPr>
            <a:lvl8pPr>
              <a:defRPr sz="1575" b="0">
                <a:solidFill>
                  <a:srgbClr val="B95925"/>
                </a:solidFill>
                <a:latin typeface="Arial"/>
                <a:ea typeface="Arial"/>
                <a:cs typeface="Arial"/>
              </a:defRPr>
            </a:lvl8pPr>
            <a:lvl9pPr>
              <a:defRPr sz="1575" b="0">
                <a:solidFill>
                  <a:srgbClr val="B95925"/>
                </a:solidFill>
                <a:latin typeface="Arial"/>
                <a:ea typeface="Arial"/>
                <a:cs typeface="Arial"/>
              </a:defRPr>
            </a:lvl9pPr>
          </a:lstStyle>
          <a:p xmlns:a="http://schemas.openxmlformats.org/drawingml/2006/main">
            <a:pPr>
              <a:defRPr sz="1575" b="0">
                <a:solidFill>
                  <a:srgbClr val="B95925"/>
                </a:solidFill>
                <a:latin typeface="Arial"/>
                <a:ea typeface="Arial"/>
                <a:cs typeface="Arial"/>
              </a:defRPr>
            </a:pPr>
            <a:r>
              <a:rPr sz="1575" b="0">
                <a:solidFill>
                  <a:srgbClr val="B95925"/>
                </a:solidFill>
                <a:latin typeface="Arial"/>
                <a:ea typeface="Arial"/>
                <a:cs typeface="Arial"/>
              </a:rPr>
              <a:t>This configuration does not demonstrate useful localization beyond the simple control.</a:t>
            </a:r>
          </a:p>
        </p:txBody>
      </p:sp>
    </p:spTree>
    <p:extLst>
      <p:ext uri="{BB962C8B-B14F-4D97-AF65-F5344CB8AC3E}">
        <p14:creationId xmlns:p14="http://schemas.microsoft.com/office/powerpoint/2010/main" val="1703864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B6B01C-F006-49E5-A569-B611A62F5242}"/>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Limits and the next experiment</a:t>
            </a:r>
          </a:p>
        </p:txBody>
      </p:sp>
      <p:sp>
        <p:nvSpPr>
          <p:cNvPr id="2" name="">
            <a:extLst xmlns:a="http://schemas.openxmlformats.org/drawingml/2006/main">
              <a:ext uri="{FF2B5EF4-FFF2-40B4-BE49-F238E27FC236}">
                <a16:creationId xmlns:a16="http://schemas.microsoft.com/office/drawing/2014/main" id="{735F178D-2F4F-48FC-ABDE-515FA57AFCC3}"/>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17D63472-6CAE-4971-A32B-A0EBC9DABEF9}"/>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F170CCD6-B369-416F-9438-F927463516D6}"/>
              </a:ext>
            </a:extLst>
          </p:cNvPr>
          <p:cNvSpPr>
            <a:spLocks xmlns:a="http://schemas.openxmlformats.org/drawingml/2006/main" noGrp="1"/>
          </p:cNvSpPr>
          <p:nvPr/>
        </p:nvSpPr>
        <p:spPr>
          <a:xfrm xmlns:a="http://schemas.openxmlformats.org/drawingml/2006/main">
            <a:off x="628650" y="14573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87"/>
                </a:solidFill>
                <a:latin typeface="Arial"/>
                <a:ea typeface="Arial"/>
                <a:cs typeface="Arial"/>
              </a:defRPr>
            </a:defPPr>
            <a:lvl1pPr>
              <a:defRPr sz="2325" b="1">
                <a:solidFill>
                  <a:srgbClr val="176B87"/>
                </a:solidFill>
                <a:latin typeface="Arial"/>
                <a:ea typeface="Arial"/>
                <a:cs typeface="Arial"/>
              </a:defRPr>
            </a:lvl1pPr>
            <a:lvl2pPr>
              <a:defRPr sz="2325" b="1">
                <a:solidFill>
                  <a:srgbClr val="176B87"/>
                </a:solidFill>
                <a:latin typeface="Arial"/>
                <a:ea typeface="Arial"/>
                <a:cs typeface="Arial"/>
              </a:defRPr>
            </a:lvl2pPr>
            <a:lvl3pPr>
              <a:defRPr sz="2325" b="1">
                <a:solidFill>
                  <a:srgbClr val="176B87"/>
                </a:solidFill>
                <a:latin typeface="Arial"/>
                <a:ea typeface="Arial"/>
                <a:cs typeface="Arial"/>
              </a:defRPr>
            </a:lvl3pPr>
            <a:lvl4pPr>
              <a:defRPr sz="2325" b="1">
                <a:solidFill>
                  <a:srgbClr val="176B87"/>
                </a:solidFill>
                <a:latin typeface="Arial"/>
                <a:ea typeface="Arial"/>
                <a:cs typeface="Arial"/>
              </a:defRPr>
            </a:lvl4pPr>
            <a:lvl5pPr>
              <a:defRPr sz="2325" b="1">
                <a:solidFill>
                  <a:srgbClr val="176B87"/>
                </a:solidFill>
                <a:latin typeface="Arial"/>
                <a:ea typeface="Arial"/>
                <a:cs typeface="Arial"/>
              </a:defRPr>
            </a:lvl5pPr>
            <a:lvl6pPr>
              <a:defRPr sz="2325" b="1">
                <a:solidFill>
                  <a:srgbClr val="176B87"/>
                </a:solidFill>
                <a:latin typeface="Arial"/>
                <a:ea typeface="Arial"/>
                <a:cs typeface="Arial"/>
              </a:defRPr>
            </a:lvl6pPr>
            <a:lvl7pPr>
              <a:defRPr sz="2325" b="1">
                <a:solidFill>
                  <a:srgbClr val="176B87"/>
                </a:solidFill>
                <a:latin typeface="Arial"/>
                <a:ea typeface="Arial"/>
                <a:cs typeface="Arial"/>
              </a:defRPr>
            </a:lvl7pPr>
            <a:lvl8pPr>
              <a:defRPr sz="2325" b="1">
                <a:solidFill>
                  <a:srgbClr val="176B87"/>
                </a:solidFill>
                <a:latin typeface="Arial"/>
                <a:ea typeface="Arial"/>
                <a:cs typeface="Arial"/>
              </a:defRPr>
            </a:lvl8pPr>
            <a:lvl9pPr>
              <a:defRPr sz="2325" b="1">
                <a:solidFill>
                  <a:srgbClr val="176B87"/>
                </a:solidFill>
                <a:latin typeface="Arial"/>
                <a:ea typeface="Arial"/>
                <a:cs typeface="Arial"/>
              </a:defRPr>
            </a:lvl9pPr>
          </a:lstStyle>
          <a:p xmlns:a="http://schemas.openxmlformats.org/drawingml/2006/main">
            <a:pPr>
              <a:defRPr sz="2325" b="1">
                <a:solidFill>
                  <a:srgbClr val="176B87"/>
                </a:solidFill>
                <a:latin typeface="Arial"/>
                <a:ea typeface="Arial"/>
                <a:cs typeface="Arial"/>
              </a:defRPr>
            </a:pPr>
            <a:r>
              <a:rPr sz="2325" b="1">
                <a:solidFill>
                  <a:srgbClr val="176B87"/>
                </a:solidFill>
                <a:latin typeface="Arial"/>
                <a:ea typeface="Arial"/>
                <a:cs typeface="Arial"/>
              </a:rPr>
              <a:t>Current limits</a:t>
            </a:r>
          </a:p>
        </p:txBody>
      </p:sp>
      <p:sp>
        <p:nvSpPr>
          <p:cNvPr id="5" name="">
            <a:extLst xmlns:a="http://schemas.openxmlformats.org/drawingml/2006/main">
              <a:ext uri="{FF2B5EF4-FFF2-40B4-BE49-F238E27FC236}">
                <a16:creationId xmlns:a16="http://schemas.microsoft.com/office/drawing/2014/main" id="{21C471B6-6B74-4452-949A-45E2E5853E73}"/>
              </a:ext>
            </a:extLst>
          </p:cNvPr>
          <p:cNvSpPr>
            <a:spLocks xmlns:a="http://schemas.openxmlformats.org/drawingml/2006/main" noGrp="1"/>
          </p:cNvSpPr>
          <p:nvPr/>
        </p:nvSpPr>
        <p:spPr>
          <a:xfrm xmlns:a="http://schemas.openxmlformats.org/drawingml/2006/main">
            <a:off x="628650" y="2076450"/>
            <a:ext cx="10668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324D"/>
                </a:solidFill>
                <a:latin typeface="Arial"/>
                <a:ea typeface="Arial"/>
                <a:cs typeface="Arial"/>
              </a:defRPr>
            </a:defPPr>
            <a:lvl1pPr>
              <a:defRPr sz="2250" b="0">
                <a:solidFill>
                  <a:srgbClr val="17324D"/>
                </a:solidFill>
                <a:latin typeface="Arial"/>
                <a:ea typeface="Arial"/>
                <a:cs typeface="Arial"/>
              </a:defRPr>
            </a:lvl1pPr>
            <a:lvl2pPr>
              <a:defRPr sz="2250" b="0">
                <a:solidFill>
                  <a:srgbClr val="17324D"/>
                </a:solidFill>
                <a:latin typeface="Arial"/>
                <a:ea typeface="Arial"/>
                <a:cs typeface="Arial"/>
              </a:defRPr>
            </a:lvl2pPr>
            <a:lvl3pPr>
              <a:defRPr sz="2250" b="0">
                <a:solidFill>
                  <a:srgbClr val="17324D"/>
                </a:solidFill>
                <a:latin typeface="Arial"/>
                <a:ea typeface="Arial"/>
                <a:cs typeface="Arial"/>
              </a:defRPr>
            </a:lvl3pPr>
            <a:lvl4pPr>
              <a:defRPr sz="2250" b="0">
                <a:solidFill>
                  <a:srgbClr val="17324D"/>
                </a:solidFill>
                <a:latin typeface="Arial"/>
                <a:ea typeface="Arial"/>
                <a:cs typeface="Arial"/>
              </a:defRPr>
            </a:lvl4pPr>
            <a:lvl5pPr>
              <a:defRPr sz="2250" b="0">
                <a:solidFill>
                  <a:srgbClr val="17324D"/>
                </a:solidFill>
                <a:latin typeface="Arial"/>
                <a:ea typeface="Arial"/>
                <a:cs typeface="Arial"/>
              </a:defRPr>
            </a:lvl5pPr>
            <a:lvl6pPr>
              <a:defRPr sz="2250" b="0">
                <a:solidFill>
                  <a:srgbClr val="17324D"/>
                </a:solidFill>
                <a:latin typeface="Arial"/>
                <a:ea typeface="Arial"/>
                <a:cs typeface="Arial"/>
              </a:defRPr>
            </a:lvl6pPr>
            <a:lvl7pPr>
              <a:defRPr sz="2250" b="0">
                <a:solidFill>
                  <a:srgbClr val="17324D"/>
                </a:solidFill>
                <a:latin typeface="Arial"/>
                <a:ea typeface="Arial"/>
                <a:cs typeface="Arial"/>
              </a:defRPr>
            </a:lvl7pPr>
            <a:lvl8pPr>
              <a:defRPr sz="2250" b="0">
                <a:solidFill>
                  <a:srgbClr val="17324D"/>
                </a:solidFill>
                <a:latin typeface="Arial"/>
                <a:ea typeface="Arial"/>
                <a:cs typeface="Arial"/>
              </a:defRPr>
            </a:lvl8pPr>
            <a:lvl9pPr>
              <a:defRPr sz="2250" b="0">
                <a:solidFill>
                  <a:srgbClr val="17324D"/>
                </a:solidFill>
                <a:latin typeface="Arial"/>
                <a:ea typeface="Arial"/>
                <a:cs typeface="Arial"/>
              </a:defRPr>
            </a:lvl9pPr>
          </a:lstStyle>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Calibration and test noise share the same model.</a:t>
            </a:r>
          </a:p>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One geometry, one main seed and one point target.</a:t>
            </a:r>
          </a:p>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No real Wi-Fi measurements or obstacle propagation.</a:t>
            </a:r>
          </a:p>
        </p:txBody>
      </p:sp>
      <p:sp>
        <p:nvSpPr>
          <p:cNvPr id="6" name="">
            <a:extLst xmlns:a="http://schemas.openxmlformats.org/drawingml/2006/main">
              <a:ext uri="{FF2B5EF4-FFF2-40B4-BE49-F238E27FC236}">
                <a16:creationId xmlns:a16="http://schemas.microsoft.com/office/drawing/2014/main" id="{4E94CE21-15A8-4934-BA3B-760A250C1551}"/>
              </a:ext>
            </a:extLst>
          </p:cNvPr>
          <p:cNvSpPr>
            <a:spLocks xmlns:a="http://schemas.openxmlformats.org/drawingml/2006/main" noGrp="1"/>
          </p:cNvSpPr>
          <p:nvPr/>
        </p:nvSpPr>
        <p:spPr>
          <a:xfrm xmlns:a="http://schemas.openxmlformats.org/drawingml/2006/main">
            <a:off x="628650" y="39719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87"/>
                </a:solidFill>
                <a:latin typeface="Arial"/>
                <a:ea typeface="Arial"/>
                <a:cs typeface="Arial"/>
              </a:defRPr>
            </a:defPPr>
            <a:lvl1pPr>
              <a:defRPr sz="2325" b="1">
                <a:solidFill>
                  <a:srgbClr val="176B87"/>
                </a:solidFill>
                <a:latin typeface="Arial"/>
                <a:ea typeface="Arial"/>
                <a:cs typeface="Arial"/>
              </a:defRPr>
            </a:lvl1pPr>
            <a:lvl2pPr>
              <a:defRPr sz="2325" b="1">
                <a:solidFill>
                  <a:srgbClr val="176B87"/>
                </a:solidFill>
                <a:latin typeface="Arial"/>
                <a:ea typeface="Arial"/>
                <a:cs typeface="Arial"/>
              </a:defRPr>
            </a:lvl2pPr>
            <a:lvl3pPr>
              <a:defRPr sz="2325" b="1">
                <a:solidFill>
                  <a:srgbClr val="176B87"/>
                </a:solidFill>
                <a:latin typeface="Arial"/>
                <a:ea typeface="Arial"/>
                <a:cs typeface="Arial"/>
              </a:defRPr>
            </a:lvl3pPr>
            <a:lvl4pPr>
              <a:defRPr sz="2325" b="1">
                <a:solidFill>
                  <a:srgbClr val="176B87"/>
                </a:solidFill>
                <a:latin typeface="Arial"/>
                <a:ea typeface="Arial"/>
                <a:cs typeface="Arial"/>
              </a:defRPr>
            </a:lvl4pPr>
            <a:lvl5pPr>
              <a:defRPr sz="2325" b="1">
                <a:solidFill>
                  <a:srgbClr val="176B87"/>
                </a:solidFill>
                <a:latin typeface="Arial"/>
                <a:ea typeface="Arial"/>
                <a:cs typeface="Arial"/>
              </a:defRPr>
            </a:lvl5pPr>
            <a:lvl6pPr>
              <a:defRPr sz="2325" b="1">
                <a:solidFill>
                  <a:srgbClr val="176B87"/>
                </a:solidFill>
                <a:latin typeface="Arial"/>
                <a:ea typeface="Arial"/>
                <a:cs typeface="Arial"/>
              </a:defRPr>
            </a:lvl6pPr>
            <a:lvl7pPr>
              <a:defRPr sz="2325" b="1">
                <a:solidFill>
                  <a:srgbClr val="176B87"/>
                </a:solidFill>
                <a:latin typeface="Arial"/>
                <a:ea typeface="Arial"/>
                <a:cs typeface="Arial"/>
              </a:defRPr>
            </a:lvl7pPr>
            <a:lvl8pPr>
              <a:defRPr sz="2325" b="1">
                <a:solidFill>
                  <a:srgbClr val="176B87"/>
                </a:solidFill>
                <a:latin typeface="Arial"/>
                <a:ea typeface="Arial"/>
                <a:cs typeface="Arial"/>
              </a:defRPr>
            </a:lvl8pPr>
            <a:lvl9pPr>
              <a:defRPr sz="2325" b="1">
                <a:solidFill>
                  <a:srgbClr val="176B87"/>
                </a:solidFill>
                <a:latin typeface="Arial"/>
                <a:ea typeface="Arial"/>
                <a:cs typeface="Arial"/>
              </a:defRPr>
            </a:lvl9pPr>
          </a:lstStyle>
          <a:p xmlns:a="http://schemas.openxmlformats.org/drawingml/2006/main">
            <a:pPr>
              <a:defRPr sz="2325" b="1">
                <a:solidFill>
                  <a:srgbClr val="176B87"/>
                </a:solidFill>
                <a:latin typeface="Arial"/>
                <a:ea typeface="Arial"/>
                <a:cs typeface="Arial"/>
              </a:defRPr>
            </a:pPr>
            <a:r>
              <a:rPr sz="2325" b="1">
                <a:solidFill>
                  <a:srgbClr val="176B87"/>
                </a:solidFill>
                <a:latin typeface="Arial"/>
                <a:ea typeface="Arial"/>
                <a:cs typeface="Arial"/>
              </a:rPr>
              <a:t>Next experiment</a:t>
            </a:r>
          </a:p>
        </p:txBody>
      </p:sp>
      <p:sp>
        <p:nvSpPr>
          <p:cNvPr id="7" name="">
            <a:extLst xmlns:a="http://schemas.openxmlformats.org/drawingml/2006/main">
              <a:ext uri="{FF2B5EF4-FFF2-40B4-BE49-F238E27FC236}">
                <a16:creationId xmlns:a16="http://schemas.microsoft.com/office/drawing/2014/main" id="{5CE3D2B8-78E2-4173-8395-81B235F77ED0}"/>
              </a:ext>
            </a:extLst>
          </p:cNvPr>
          <p:cNvSpPr>
            <a:spLocks xmlns:a="http://schemas.openxmlformats.org/drawingml/2006/main" noGrp="1"/>
          </p:cNvSpPr>
          <p:nvPr/>
        </p:nvSpPr>
        <p:spPr>
          <a:xfrm xmlns:a="http://schemas.openxmlformats.org/drawingml/2006/main">
            <a:off x="628650" y="4591050"/>
            <a:ext cx="1076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324D"/>
                </a:solidFill>
                <a:latin typeface="Arial"/>
                <a:ea typeface="Arial"/>
                <a:cs typeface="Arial"/>
              </a:defRPr>
            </a:defPPr>
            <a:lvl1pPr>
              <a:defRPr sz="2325" b="0">
                <a:solidFill>
                  <a:srgbClr val="17324D"/>
                </a:solidFill>
                <a:latin typeface="Arial"/>
                <a:ea typeface="Arial"/>
                <a:cs typeface="Arial"/>
              </a:defRPr>
            </a:lvl1pPr>
            <a:lvl2pPr>
              <a:defRPr sz="2325" b="0">
                <a:solidFill>
                  <a:srgbClr val="17324D"/>
                </a:solidFill>
                <a:latin typeface="Arial"/>
                <a:ea typeface="Arial"/>
                <a:cs typeface="Arial"/>
              </a:defRPr>
            </a:lvl2pPr>
            <a:lvl3pPr>
              <a:defRPr sz="2325" b="0">
                <a:solidFill>
                  <a:srgbClr val="17324D"/>
                </a:solidFill>
                <a:latin typeface="Arial"/>
                <a:ea typeface="Arial"/>
                <a:cs typeface="Arial"/>
              </a:defRPr>
            </a:lvl3pPr>
            <a:lvl4pPr>
              <a:defRPr sz="2325" b="0">
                <a:solidFill>
                  <a:srgbClr val="17324D"/>
                </a:solidFill>
                <a:latin typeface="Arial"/>
                <a:ea typeface="Arial"/>
                <a:cs typeface="Arial"/>
              </a:defRPr>
            </a:lvl4pPr>
            <a:lvl5pPr>
              <a:defRPr sz="2325" b="0">
                <a:solidFill>
                  <a:srgbClr val="17324D"/>
                </a:solidFill>
                <a:latin typeface="Arial"/>
                <a:ea typeface="Arial"/>
                <a:cs typeface="Arial"/>
              </a:defRPr>
            </a:lvl5pPr>
            <a:lvl6pPr>
              <a:defRPr sz="2325" b="0">
                <a:solidFill>
                  <a:srgbClr val="17324D"/>
                </a:solidFill>
                <a:latin typeface="Arial"/>
                <a:ea typeface="Arial"/>
                <a:cs typeface="Arial"/>
              </a:defRPr>
            </a:lvl6pPr>
            <a:lvl7pPr>
              <a:defRPr sz="2325" b="0">
                <a:solidFill>
                  <a:srgbClr val="17324D"/>
                </a:solidFill>
                <a:latin typeface="Arial"/>
                <a:ea typeface="Arial"/>
                <a:cs typeface="Arial"/>
              </a:defRPr>
            </a:lvl7pPr>
            <a:lvl8pPr>
              <a:defRPr sz="2325" b="0">
                <a:solidFill>
                  <a:srgbClr val="17324D"/>
                </a:solidFill>
                <a:latin typeface="Arial"/>
                <a:ea typeface="Arial"/>
                <a:cs typeface="Arial"/>
              </a:defRPr>
            </a:lvl8pPr>
            <a:lvl9pPr>
              <a:defRPr sz="2325" b="0">
                <a:solidFill>
                  <a:srgbClr val="17324D"/>
                </a:solidFill>
                <a:latin typeface="Arial"/>
                <a:ea typeface="Arial"/>
                <a:cs typeface="Arial"/>
              </a:defRPr>
            </a:lvl9pPr>
          </a:lstStyle>
          <a:p xmlns:a="http://schemas.openxmlformats.org/drawingml/2006/main">
            <a:pPr>
              <a:defRPr sz="2325" b="0">
                <a:solidFill>
                  <a:srgbClr val="17324D"/>
                </a:solidFill>
                <a:latin typeface="Arial"/>
                <a:ea typeface="Arial"/>
                <a:cs typeface="Arial"/>
              </a:defRPr>
            </a:pPr>
            <a:r>
              <a:rPr sz="2325" b="0">
                <a:solidFill>
                  <a:srgbClr val="17324D"/>
                </a:solidFill>
                <a:latin typeface="Arial"/>
                <a:ea typeface="Arial"/>
                <a:cs typeface="Arial"/>
              </a:rPr>
              <a:t>Tune alpha using development data, freeze the choice,</a:t>
            </a:r>
          </a:p>
          <a:p xmlns:a="http://schemas.openxmlformats.org/drawingml/2006/main">
            <a:pPr>
              <a:defRPr sz="2325" b="0">
                <a:solidFill>
                  <a:srgbClr val="17324D"/>
                </a:solidFill>
                <a:latin typeface="Arial"/>
                <a:ea typeface="Arial"/>
                <a:cs typeface="Arial"/>
              </a:defRPr>
            </a:pPr>
            <a:r>
              <a:rPr sz="2325" b="0">
                <a:solidFill>
                  <a:srgbClr val="17324D"/>
                </a:solidFill>
                <a:latin typeface="Arial"/>
                <a:ea typeface="Arial"/>
                <a:cs typeface="Arial"/>
              </a:rPr>
              <a:t>then test on new seeds with the center control included.</a:t>
            </a:r>
          </a:p>
        </p:txBody>
      </p:sp>
      <p:sp>
        <p:nvSpPr>
          <p:cNvPr id="8" name="">
            <a:extLst xmlns:a="http://schemas.openxmlformats.org/drawingml/2006/main">
              <a:ext uri="{FF2B5EF4-FFF2-40B4-BE49-F238E27FC236}">
                <a16:creationId xmlns:a16="http://schemas.microsoft.com/office/drawing/2014/main" id="{82C11206-F540-45C6-B14E-51921C8D45BB}"/>
              </a:ext>
            </a:extLst>
          </p:cNvPr>
          <p:cNvSpPr>
            <a:spLocks xmlns:a="http://schemas.openxmlformats.org/drawingml/2006/main" noGrp="1"/>
          </p:cNvSpPr>
          <p:nvPr/>
        </p:nvSpPr>
        <p:spPr>
          <a:xfrm xmlns:a="http://schemas.openxmlformats.org/drawingml/2006/main">
            <a:off x="628650" y="58007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95925"/>
                </a:solidFill>
                <a:latin typeface="Arial"/>
                <a:ea typeface="Arial"/>
                <a:cs typeface="Arial"/>
              </a:defRPr>
            </a:defPPr>
            <a:lvl1pPr>
              <a:defRPr sz="1575" b="0">
                <a:solidFill>
                  <a:srgbClr val="B95925"/>
                </a:solidFill>
                <a:latin typeface="Arial"/>
                <a:ea typeface="Arial"/>
                <a:cs typeface="Arial"/>
              </a:defRPr>
            </a:lvl1pPr>
            <a:lvl2pPr>
              <a:defRPr sz="1575" b="0">
                <a:solidFill>
                  <a:srgbClr val="B95925"/>
                </a:solidFill>
                <a:latin typeface="Arial"/>
                <a:ea typeface="Arial"/>
                <a:cs typeface="Arial"/>
              </a:defRPr>
            </a:lvl2pPr>
            <a:lvl3pPr>
              <a:defRPr sz="1575" b="0">
                <a:solidFill>
                  <a:srgbClr val="B95925"/>
                </a:solidFill>
                <a:latin typeface="Arial"/>
                <a:ea typeface="Arial"/>
                <a:cs typeface="Arial"/>
              </a:defRPr>
            </a:lvl3pPr>
            <a:lvl4pPr>
              <a:defRPr sz="1575" b="0">
                <a:solidFill>
                  <a:srgbClr val="B95925"/>
                </a:solidFill>
                <a:latin typeface="Arial"/>
                <a:ea typeface="Arial"/>
                <a:cs typeface="Arial"/>
              </a:defRPr>
            </a:lvl4pPr>
            <a:lvl5pPr>
              <a:defRPr sz="1575" b="0">
                <a:solidFill>
                  <a:srgbClr val="B95925"/>
                </a:solidFill>
                <a:latin typeface="Arial"/>
                <a:ea typeface="Arial"/>
                <a:cs typeface="Arial"/>
              </a:defRPr>
            </a:lvl5pPr>
            <a:lvl6pPr>
              <a:defRPr sz="1575" b="0">
                <a:solidFill>
                  <a:srgbClr val="B95925"/>
                </a:solidFill>
                <a:latin typeface="Arial"/>
                <a:ea typeface="Arial"/>
                <a:cs typeface="Arial"/>
              </a:defRPr>
            </a:lvl6pPr>
            <a:lvl7pPr>
              <a:defRPr sz="1575" b="0">
                <a:solidFill>
                  <a:srgbClr val="B95925"/>
                </a:solidFill>
                <a:latin typeface="Arial"/>
                <a:ea typeface="Arial"/>
                <a:cs typeface="Arial"/>
              </a:defRPr>
            </a:lvl7pPr>
            <a:lvl8pPr>
              <a:defRPr sz="1575" b="0">
                <a:solidFill>
                  <a:srgbClr val="B95925"/>
                </a:solidFill>
                <a:latin typeface="Arial"/>
                <a:ea typeface="Arial"/>
                <a:cs typeface="Arial"/>
              </a:defRPr>
            </a:lvl8pPr>
            <a:lvl9pPr>
              <a:defRPr sz="1575" b="0">
                <a:solidFill>
                  <a:srgbClr val="B95925"/>
                </a:solidFill>
                <a:latin typeface="Arial"/>
                <a:ea typeface="Arial"/>
                <a:cs typeface="Arial"/>
              </a:defRPr>
            </a:lvl9pPr>
          </a:lstStyle>
          <a:p xmlns:a="http://schemas.openxmlformats.org/drawingml/2006/main">
            <a:pPr>
              <a:defRPr sz="1575" b="0">
                <a:solidFill>
                  <a:srgbClr val="B95925"/>
                </a:solidFill>
                <a:latin typeface="Arial"/>
                <a:ea typeface="Arial"/>
                <a:cs typeface="Arial"/>
              </a:defRPr>
            </a:pPr>
            <a:r>
              <a:rPr sz="1575" b="0">
                <a:solidFill>
                  <a:srgbClr val="B95925"/>
                </a:solidFill>
                <a:latin typeface="Arial"/>
                <a:ea typeface="Arial"/>
                <a:cs typeface="Arial"/>
              </a:rPr>
              <a:t>A wider application claim requires evidence beyond this synthetic study.</a:t>
            </a:r>
          </a:p>
        </p:txBody>
      </p:sp>
    </p:spTree>
    <p:extLst>
      <p:ext uri="{BB962C8B-B14F-4D97-AF65-F5344CB8AC3E}">
        <p14:creationId xmlns:p14="http://schemas.microsoft.com/office/powerpoint/2010/main" val="4337899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11B141-3E30-4151-B9E7-35B7A1F0B1E3}"/>
              </a:ext>
            </a:extLst>
          </p:cNvPr>
          <p:cNvSpPr>
            <a:spLocks xmlns:a="http://schemas.openxmlformats.org/drawingml/2006/main" noGrp="1"/>
          </p:cNvSpPr>
          <p:nvPr/>
        </p:nvSpPr>
        <p:spPr>
          <a:xfrm xmlns:a="http://schemas.openxmlformats.org/drawingml/2006/main">
            <a:off x="628650" y="428625"/>
            <a:ext cx="10934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24D"/>
                </a:solidFill>
                <a:latin typeface="Arial"/>
                <a:ea typeface="Arial"/>
                <a:cs typeface="Arial"/>
              </a:defRPr>
            </a:defPPr>
            <a:lvl1pPr>
              <a:defRPr sz="3075" b="1">
                <a:solidFill>
                  <a:srgbClr val="17324D"/>
                </a:solidFill>
                <a:latin typeface="Arial"/>
                <a:ea typeface="Arial"/>
                <a:cs typeface="Arial"/>
              </a:defRPr>
            </a:lvl1pPr>
            <a:lvl2pPr>
              <a:defRPr sz="3075" b="1">
                <a:solidFill>
                  <a:srgbClr val="17324D"/>
                </a:solidFill>
                <a:latin typeface="Arial"/>
                <a:ea typeface="Arial"/>
                <a:cs typeface="Arial"/>
              </a:defRPr>
            </a:lvl2pPr>
            <a:lvl3pPr>
              <a:defRPr sz="3075" b="1">
                <a:solidFill>
                  <a:srgbClr val="17324D"/>
                </a:solidFill>
                <a:latin typeface="Arial"/>
                <a:ea typeface="Arial"/>
                <a:cs typeface="Arial"/>
              </a:defRPr>
            </a:lvl3pPr>
            <a:lvl4pPr>
              <a:defRPr sz="3075" b="1">
                <a:solidFill>
                  <a:srgbClr val="17324D"/>
                </a:solidFill>
                <a:latin typeface="Arial"/>
                <a:ea typeface="Arial"/>
                <a:cs typeface="Arial"/>
              </a:defRPr>
            </a:lvl4pPr>
            <a:lvl5pPr>
              <a:defRPr sz="3075" b="1">
                <a:solidFill>
                  <a:srgbClr val="17324D"/>
                </a:solidFill>
                <a:latin typeface="Arial"/>
                <a:ea typeface="Arial"/>
                <a:cs typeface="Arial"/>
              </a:defRPr>
            </a:lvl5pPr>
            <a:lvl6pPr>
              <a:defRPr sz="3075" b="1">
                <a:solidFill>
                  <a:srgbClr val="17324D"/>
                </a:solidFill>
                <a:latin typeface="Arial"/>
                <a:ea typeface="Arial"/>
                <a:cs typeface="Arial"/>
              </a:defRPr>
            </a:lvl6pPr>
            <a:lvl7pPr>
              <a:defRPr sz="3075" b="1">
                <a:solidFill>
                  <a:srgbClr val="17324D"/>
                </a:solidFill>
                <a:latin typeface="Arial"/>
                <a:ea typeface="Arial"/>
                <a:cs typeface="Arial"/>
              </a:defRPr>
            </a:lvl7pPr>
            <a:lvl8pPr>
              <a:defRPr sz="3075" b="1">
                <a:solidFill>
                  <a:srgbClr val="17324D"/>
                </a:solidFill>
                <a:latin typeface="Arial"/>
                <a:ea typeface="Arial"/>
                <a:cs typeface="Arial"/>
              </a:defRPr>
            </a:lvl8pPr>
            <a:lvl9pPr>
              <a:defRPr sz="3075" b="1">
                <a:solidFill>
                  <a:srgbClr val="17324D"/>
                </a:solidFill>
                <a:latin typeface="Arial"/>
                <a:ea typeface="Arial"/>
                <a:cs typeface="Arial"/>
              </a:defRPr>
            </a:lvl9pPr>
          </a:lstStyle>
          <a:p xmlns:a="http://schemas.openxmlformats.org/drawingml/2006/main">
            <a:pPr>
              <a:defRPr sz="3075" b="1">
                <a:solidFill>
                  <a:srgbClr val="17324D"/>
                </a:solidFill>
                <a:latin typeface="Arial"/>
                <a:ea typeface="Arial"/>
                <a:cs typeface="Arial"/>
              </a:defRPr>
            </a:pPr>
            <a:r>
              <a:rPr sz="3075" b="1">
                <a:solidFill>
                  <a:srgbClr val="17324D"/>
                </a:solidFill>
                <a:latin typeface="Arial"/>
                <a:ea typeface="Arial"/>
                <a:cs typeface="Arial"/>
              </a:rPr>
              <a:t>Conclusions</a:t>
            </a:r>
          </a:p>
        </p:txBody>
      </p:sp>
      <p:sp>
        <p:nvSpPr>
          <p:cNvPr id="2" name="">
            <a:extLst xmlns:a="http://schemas.openxmlformats.org/drawingml/2006/main">
              <a:ext uri="{FF2B5EF4-FFF2-40B4-BE49-F238E27FC236}">
                <a16:creationId xmlns:a16="http://schemas.microsoft.com/office/drawing/2014/main" id="{FA192E4C-F2AC-454A-9039-451A3C5AE7F1}"/>
              </a:ext>
            </a:extLst>
          </p:cNvPr>
          <p:cNvSpPr>
            <a:spLocks xmlns:a="http://schemas.openxmlformats.org/drawingml/2006/main" noGrp="1"/>
          </p:cNvSpPr>
          <p:nvPr/>
        </p:nvSpPr>
        <p:spPr>
          <a:xfrm xmlns:a="http://schemas.openxmlformats.org/drawingml/2006/main">
            <a:off x="628650" y="64770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273"/>
                </a:solidFill>
                <a:latin typeface="Arial"/>
                <a:ea typeface="Arial"/>
                <a:cs typeface="Arial"/>
              </a:defRPr>
            </a:defPPr>
            <a:lvl1pPr>
              <a:defRPr sz="1050" b="0">
                <a:solidFill>
                  <a:srgbClr val="526273"/>
                </a:solidFill>
                <a:latin typeface="Arial"/>
                <a:ea typeface="Arial"/>
                <a:cs typeface="Arial"/>
              </a:defRPr>
            </a:lvl1pPr>
            <a:lvl2pPr>
              <a:defRPr sz="1050" b="0">
                <a:solidFill>
                  <a:srgbClr val="526273"/>
                </a:solidFill>
                <a:latin typeface="Arial"/>
                <a:ea typeface="Arial"/>
                <a:cs typeface="Arial"/>
              </a:defRPr>
            </a:lvl2pPr>
            <a:lvl3pPr>
              <a:defRPr sz="1050" b="0">
                <a:solidFill>
                  <a:srgbClr val="526273"/>
                </a:solidFill>
                <a:latin typeface="Arial"/>
                <a:ea typeface="Arial"/>
                <a:cs typeface="Arial"/>
              </a:defRPr>
            </a:lvl3pPr>
            <a:lvl4pPr>
              <a:defRPr sz="1050" b="0">
                <a:solidFill>
                  <a:srgbClr val="526273"/>
                </a:solidFill>
                <a:latin typeface="Arial"/>
                <a:ea typeface="Arial"/>
                <a:cs typeface="Arial"/>
              </a:defRPr>
            </a:lvl4pPr>
            <a:lvl5pPr>
              <a:defRPr sz="1050" b="0">
                <a:solidFill>
                  <a:srgbClr val="526273"/>
                </a:solidFill>
                <a:latin typeface="Arial"/>
                <a:ea typeface="Arial"/>
                <a:cs typeface="Arial"/>
              </a:defRPr>
            </a:lvl5pPr>
            <a:lvl6pPr>
              <a:defRPr sz="1050" b="0">
                <a:solidFill>
                  <a:srgbClr val="526273"/>
                </a:solidFill>
                <a:latin typeface="Arial"/>
                <a:ea typeface="Arial"/>
                <a:cs typeface="Arial"/>
              </a:defRPr>
            </a:lvl6pPr>
            <a:lvl7pPr>
              <a:defRPr sz="1050" b="0">
                <a:solidFill>
                  <a:srgbClr val="526273"/>
                </a:solidFill>
                <a:latin typeface="Arial"/>
                <a:ea typeface="Arial"/>
                <a:cs typeface="Arial"/>
              </a:defRPr>
            </a:lvl7pPr>
            <a:lvl8pPr>
              <a:defRPr sz="1050" b="0">
                <a:solidFill>
                  <a:srgbClr val="526273"/>
                </a:solidFill>
                <a:latin typeface="Arial"/>
                <a:ea typeface="Arial"/>
                <a:cs typeface="Arial"/>
              </a:defRPr>
            </a:lvl8pPr>
            <a:lvl9pPr>
              <a:defRPr sz="1050" b="0">
                <a:solidFill>
                  <a:srgbClr val="526273"/>
                </a:solidFill>
                <a:latin typeface="Arial"/>
                <a:ea typeface="Arial"/>
                <a:cs typeface="Arial"/>
              </a:defRPr>
            </a:lvl9pPr>
          </a:lstStyle>
          <a:p xmlns:a="http://schemas.openxmlformats.org/drawingml/2006/main">
            <a:pPr>
              <a:defRPr sz="1050" b="0">
                <a:solidFill>
                  <a:srgbClr val="526273"/>
                </a:solidFill>
                <a:latin typeface="Arial"/>
                <a:ea typeface="Arial"/>
                <a:cs typeface="Arial"/>
              </a:defRPr>
            </a:pPr>
            <a:r>
              <a:rPr sz="1050" b="0">
                <a:solidFill>
                  <a:srgbClr val="526273"/>
                </a:solidFill>
                <a:latin typeface="Arial"/>
                <a:ea typeface="Arial"/>
                <a:cs typeface="Arial"/>
              </a:rPr>
              <a:t>Camilo Vásquez  /  Analysis of Algorithms</a:t>
            </a:r>
          </a:p>
        </p:txBody>
      </p:sp>
      <p:sp>
        <p:nvSpPr>
          <p:cNvPr id="3" name="">
            <a:extLst xmlns:a="http://schemas.openxmlformats.org/drawingml/2006/main">
              <a:ext uri="{FF2B5EF4-FFF2-40B4-BE49-F238E27FC236}">
                <a16:creationId xmlns:a16="http://schemas.microsoft.com/office/drawing/2014/main" id="{069F87D4-A95F-4B79-BBAF-6A9E566F4F70}"/>
              </a:ext>
            </a:extLst>
          </p:cNvPr>
          <p:cNvSpPr>
            <a:spLocks xmlns:a="http://schemas.openxmlformats.org/drawingml/2006/main" noGrp="1"/>
          </p:cNvSpPr>
          <p:nvPr/>
        </p:nvSpPr>
        <p:spPr>
          <a:xfrm xmlns:a="http://schemas.openxmlformats.org/drawingml/2006/main">
            <a:off x="11144250" y="64770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1">
                <a:solidFill>
                  <a:srgbClr val="176B87"/>
                </a:solidFill>
                <a:latin typeface="Arial"/>
                <a:ea typeface="Arial"/>
                <a:cs typeface="Arial"/>
              </a:defRPr>
            </a:defPPr>
            <a:lvl1pPr>
              <a:defRPr sz="1050" b="1">
                <a:solidFill>
                  <a:srgbClr val="176B87"/>
                </a:solidFill>
                <a:latin typeface="Arial"/>
                <a:ea typeface="Arial"/>
                <a:cs typeface="Arial"/>
              </a:defRPr>
            </a:lvl1pPr>
            <a:lvl2pPr>
              <a:defRPr sz="1050" b="1">
                <a:solidFill>
                  <a:srgbClr val="176B87"/>
                </a:solidFill>
                <a:latin typeface="Arial"/>
                <a:ea typeface="Arial"/>
                <a:cs typeface="Arial"/>
              </a:defRPr>
            </a:lvl2pPr>
            <a:lvl3pPr>
              <a:defRPr sz="1050" b="1">
                <a:solidFill>
                  <a:srgbClr val="176B87"/>
                </a:solidFill>
                <a:latin typeface="Arial"/>
                <a:ea typeface="Arial"/>
                <a:cs typeface="Arial"/>
              </a:defRPr>
            </a:lvl3pPr>
            <a:lvl4pPr>
              <a:defRPr sz="1050" b="1">
                <a:solidFill>
                  <a:srgbClr val="176B87"/>
                </a:solidFill>
                <a:latin typeface="Arial"/>
                <a:ea typeface="Arial"/>
                <a:cs typeface="Arial"/>
              </a:defRPr>
            </a:lvl4pPr>
            <a:lvl5pPr>
              <a:defRPr sz="1050" b="1">
                <a:solidFill>
                  <a:srgbClr val="176B87"/>
                </a:solidFill>
                <a:latin typeface="Arial"/>
                <a:ea typeface="Arial"/>
                <a:cs typeface="Arial"/>
              </a:defRPr>
            </a:lvl5pPr>
            <a:lvl6pPr>
              <a:defRPr sz="1050" b="1">
                <a:solidFill>
                  <a:srgbClr val="176B87"/>
                </a:solidFill>
                <a:latin typeface="Arial"/>
                <a:ea typeface="Arial"/>
                <a:cs typeface="Arial"/>
              </a:defRPr>
            </a:lvl6pPr>
            <a:lvl7pPr>
              <a:defRPr sz="1050" b="1">
                <a:solidFill>
                  <a:srgbClr val="176B87"/>
                </a:solidFill>
                <a:latin typeface="Arial"/>
                <a:ea typeface="Arial"/>
                <a:cs typeface="Arial"/>
              </a:defRPr>
            </a:lvl7pPr>
            <a:lvl8pPr>
              <a:defRPr sz="1050" b="1">
                <a:solidFill>
                  <a:srgbClr val="176B87"/>
                </a:solidFill>
                <a:latin typeface="Arial"/>
                <a:ea typeface="Arial"/>
                <a:cs typeface="Arial"/>
              </a:defRPr>
            </a:lvl8pPr>
            <a:lvl9pPr>
              <a:defRPr sz="1050" b="1">
                <a:solidFill>
                  <a:srgbClr val="176B87"/>
                </a:solidFill>
                <a:latin typeface="Arial"/>
                <a:ea typeface="Arial"/>
                <a:cs typeface="Arial"/>
              </a:defRPr>
            </a:lvl9pPr>
          </a:lstStyle>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FE7C3022-6C80-476F-8B67-56F2D28FC0B6}"/>
              </a:ext>
            </a:extLst>
          </p:cNvPr>
          <p:cNvSpPr>
            <a:spLocks xmlns:a="http://schemas.openxmlformats.org/drawingml/2006/main" noGrp="1"/>
          </p:cNvSpPr>
          <p:nvPr/>
        </p:nvSpPr>
        <p:spPr>
          <a:xfrm xmlns:a="http://schemas.openxmlformats.org/drawingml/2006/main">
            <a:off x="628650" y="14954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87"/>
                </a:solidFill>
                <a:latin typeface="Arial"/>
                <a:ea typeface="Arial"/>
                <a:cs typeface="Arial"/>
              </a:defRPr>
            </a:defPPr>
            <a:lvl1pPr>
              <a:defRPr sz="2325" b="1">
                <a:solidFill>
                  <a:srgbClr val="176B87"/>
                </a:solidFill>
                <a:latin typeface="Arial"/>
                <a:ea typeface="Arial"/>
                <a:cs typeface="Arial"/>
              </a:defRPr>
            </a:lvl1pPr>
            <a:lvl2pPr>
              <a:defRPr sz="2325" b="1">
                <a:solidFill>
                  <a:srgbClr val="176B87"/>
                </a:solidFill>
                <a:latin typeface="Arial"/>
                <a:ea typeface="Arial"/>
                <a:cs typeface="Arial"/>
              </a:defRPr>
            </a:lvl2pPr>
            <a:lvl3pPr>
              <a:defRPr sz="2325" b="1">
                <a:solidFill>
                  <a:srgbClr val="176B87"/>
                </a:solidFill>
                <a:latin typeface="Arial"/>
                <a:ea typeface="Arial"/>
                <a:cs typeface="Arial"/>
              </a:defRPr>
            </a:lvl3pPr>
            <a:lvl4pPr>
              <a:defRPr sz="2325" b="1">
                <a:solidFill>
                  <a:srgbClr val="176B87"/>
                </a:solidFill>
                <a:latin typeface="Arial"/>
                <a:ea typeface="Arial"/>
                <a:cs typeface="Arial"/>
              </a:defRPr>
            </a:lvl4pPr>
            <a:lvl5pPr>
              <a:defRPr sz="2325" b="1">
                <a:solidFill>
                  <a:srgbClr val="176B87"/>
                </a:solidFill>
                <a:latin typeface="Arial"/>
                <a:ea typeface="Arial"/>
                <a:cs typeface="Arial"/>
              </a:defRPr>
            </a:lvl5pPr>
            <a:lvl6pPr>
              <a:defRPr sz="2325" b="1">
                <a:solidFill>
                  <a:srgbClr val="176B87"/>
                </a:solidFill>
                <a:latin typeface="Arial"/>
                <a:ea typeface="Arial"/>
                <a:cs typeface="Arial"/>
              </a:defRPr>
            </a:lvl6pPr>
            <a:lvl7pPr>
              <a:defRPr sz="2325" b="1">
                <a:solidFill>
                  <a:srgbClr val="176B87"/>
                </a:solidFill>
                <a:latin typeface="Arial"/>
                <a:ea typeface="Arial"/>
                <a:cs typeface="Arial"/>
              </a:defRPr>
            </a:lvl7pPr>
            <a:lvl8pPr>
              <a:defRPr sz="2325" b="1">
                <a:solidFill>
                  <a:srgbClr val="176B87"/>
                </a:solidFill>
                <a:latin typeface="Arial"/>
                <a:ea typeface="Arial"/>
                <a:cs typeface="Arial"/>
              </a:defRPr>
            </a:lvl8pPr>
            <a:lvl9pPr>
              <a:defRPr sz="2325" b="1">
                <a:solidFill>
                  <a:srgbClr val="176B87"/>
                </a:solidFill>
                <a:latin typeface="Arial"/>
                <a:ea typeface="Arial"/>
                <a:cs typeface="Arial"/>
              </a:defRPr>
            </a:lvl9pPr>
          </a:lstStyle>
          <a:p xmlns:a="http://schemas.openxmlformats.org/drawingml/2006/main">
            <a:pPr>
              <a:defRPr sz="2325" b="1">
                <a:solidFill>
                  <a:srgbClr val="176B87"/>
                </a:solidFill>
                <a:latin typeface="Arial"/>
                <a:ea typeface="Arial"/>
                <a:cs typeface="Arial"/>
              </a:defRPr>
            </a:pPr>
            <a:r>
              <a:rPr sz="2325" b="1">
                <a:solidFill>
                  <a:srgbClr val="176B87"/>
                </a:solidFill>
                <a:latin typeface="Arial"/>
                <a:ea typeface="Arial"/>
                <a:cs typeface="Arial"/>
              </a:rPr>
              <a:t>EM recovers known mixture parameters more accurately</a:t>
            </a:r>
          </a:p>
          <a:p xmlns:a="http://schemas.openxmlformats.org/drawingml/2006/main">
            <a:pPr>
              <a:defRPr sz="2325" b="1">
                <a:solidFill>
                  <a:srgbClr val="176B87"/>
                </a:solidFill>
                <a:latin typeface="Arial"/>
                <a:ea typeface="Arial"/>
                <a:cs typeface="Arial"/>
              </a:defRPr>
            </a:pPr>
            <a:r>
              <a:rPr sz="2325" b="1">
                <a:solidFill>
                  <a:srgbClr val="176B87"/>
                </a:solidFill>
                <a:latin typeface="Arial"/>
                <a:ea typeface="Arial"/>
                <a:cs typeface="Arial"/>
              </a:rPr>
              <a:t>as calibration sample size grows, on average.</a:t>
            </a:r>
          </a:p>
        </p:txBody>
      </p:sp>
      <p:sp>
        <p:nvSpPr>
          <p:cNvPr id="5" name="">
            <a:extLst xmlns:a="http://schemas.openxmlformats.org/drawingml/2006/main">
              <a:ext uri="{FF2B5EF4-FFF2-40B4-BE49-F238E27FC236}">
                <a16:creationId xmlns:a16="http://schemas.microsoft.com/office/drawing/2014/main" id="{621CD17E-FAF4-424A-8855-5BC9E1AD2710}"/>
              </a:ext>
            </a:extLst>
          </p:cNvPr>
          <p:cNvSpPr>
            <a:spLocks xmlns:a="http://schemas.openxmlformats.org/drawingml/2006/main" noGrp="1"/>
          </p:cNvSpPr>
          <p:nvPr/>
        </p:nvSpPr>
        <p:spPr>
          <a:xfrm xmlns:a="http://schemas.openxmlformats.org/drawingml/2006/main">
            <a:off x="628650" y="27527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324D"/>
                </a:solidFill>
                <a:latin typeface="Arial"/>
                <a:ea typeface="Arial"/>
                <a:cs typeface="Arial"/>
              </a:defRPr>
            </a:defPPr>
            <a:lvl1pPr>
              <a:defRPr sz="2250" b="0">
                <a:solidFill>
                  <a:srgbClr val="17324D"/>
                </a:solidFill>
                <a:latin typeface="Arial"/>
                <a:ea typeface="Arial"/>
                <a:cs typeface="Arial"/>
              </a:defRPr>
            </a:lvl1pPr>
            <a:lvl2pPr>
              <a:defRPr sz="2250" b="0">
                <a:solidFill>
                  <a:srgbClr val="17324D"/>
                </a:solidFill>
                <a:latin typeface="Arial"/>
                <a:ea typeface="Arial"/>
                <a:cs typeface="Arial"/>
              </a:defRPr>
            </a:lvl2pPr>
            <a:lvl3pPr>
              <a:defRPr sz="2250" b="0">
                <a:solidFill>
                  <a:srgbClr val="17324D"/>
                </a:solidFill>
                <a:latin typeface="Arial"/>
                <a:ea typeface="Arial"/>
                <a:cs typeface="Arial"/>
              </a:defRPr>
            </a:lvl3pPr>
            <a:lvl4pPr>
              <a:defRPr sz="2250" b="0">
                <a:solidFill>
                  <a:srgbClr val="17324D"/>
                </a:solidFill>
                <a:latin typeface="Arial"/>
                <a:ea typeface="Arial"/>
                <a:cs typeface="Arial"/>
              </a:defRPr>
            </a:lvl4pPr>
            <a:lvl5pPr>
              <a:defRPr sz="2250" b="0">
                <a:solidFill>
                  <a:srgbClr val="17324D"/>
                </a:solidFill>
                <a:latin typeface="Arial"/>
                <a:ea typeface="Arial"/>
                <a:cs typeface="Arial"/>
              </a:defRPr>
            </a:lvl5pPr>
            <a:lvl6pPr>
              <a:defRPr sz="2250" b="0">
                <a:solidFill>
                  <a:srgbClr val="17324D"/>
                </a:solidFill>
                <a:latin typeface="Arial"/>
                <a:ea typeface="Arial"/>
                <a:cs typeface="Arial"/>
              </a:defRPr>
            </a:lvl6pPr>
            <a:lvl7pPr>
              <a:defRPr sz="2250" b="0">
                <a:solidFill>
                  <a:srgbClr val="17324D"/>
                </a:solidFill>
                <a:latin typeface="Arial"/>
                <a:ea typeface="Arial"/>
                <a:cs typeface="Arial"/>
              </a:defRPr>
            </a:lvl7pPr>
            <a:lvl8pPr>
              <a:defRPr sz="2250" b="0">
                <a:solidFill>
                  <a:srgbClr val="17324D"/>
                </a:solidFill>
                <a:latin typeface="Arial"/>
                <a:ea typeface="Arial"/>
                <a:cs typeface="Arial"/>
              </a:defRPr>
            </a:lvl8pPr>
            <a:lvl9pPr>
              <a:defRPr sz="2250" b="0">
                <a:solidFill>
                  <a:srgbClr val="17324D"/>
                </a:solidFill>
                <a:latin typeface="Arial"/>
                <a:ea typeface="Arial"/>
                <a:cs typeface="Arial"/>
              </a:defRPr>
            </a:lvl9pPr>
          </a:lstStyle>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The 20 tested starts agree on one fixed sample.</a:t>
            </a:r>
          </a:p>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This result supports local repeatability.</a:t>
            </a:r>
          </a:p>
        </p:txBody>
      </p:sp>
      <p:sp>
        <p:nvSpPr>
          <p:cNvPr id="6" name="">
            <a:extLst xmlns:a="http://schemas.openxmlformats.org/drawingml/2006/main">
              <a:ext uri="{FF2B5EF4-FFF2-40B4-BE49-F238E27FC236}">
                <a16:creationId xmlns:a16="http://schemas.microsoft.com/office/drawing/2014/main" id="{B1D31E9B-52B7-44C9-A82E-B8E2A4DDC3A6}"/>
              </a:ext>
            </a:extLst>
          </p:cNvPr>
          <p:cNvSpPr>
            <a:spLocks xmlns:a="http://schemas.openxmlformats.org/drawingml/2006/main" noGrp="1"/>
          </p:cNvSpPr>
          <p:nvPr/>
        </p:nvSpPr>
        <p:spPr>
          <a:xfrm xmlns:a="http://schemas.openxmlformats.org/drawingml/2006/main">
            <a:off x="628650" y="3952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324D"/>
                </a:solidFill>
                <a:latin typeface="Arial"/>
                <a:ea typeface="Arial"/>
                <a:cs typeface="Arial"/>
              </a:defRPr>
            </a:defPPr>
            <a:lvl1pPr>
              <a:defRPr sz="2250" b="0">
                <a:solidFill>
                  <a:srgbClr val="17324D"/>
                </a:solidFill>
                <a:latin typeface="Arial"/>
                <a:ea typeface="Arial"/>
                <a:cs typeface="Arial"/>
              </a:defRPr>
            </a:lvl1pPr>
            <a:lvl2pPr>
              <a:defRPr sz="2250" b="0">
                <a:solidFill>
                  <a:srgbClr val="17324D"/>
                </a:solidFill>
                <a:latin typeface="Arial"/>
                <a:ea typeface="Arial"/>
                <a:cs typeface="Arial"/>
              </a:defRPr>
            </a:lvl2pPr>
            <a:lvl3pPr>
              <a:defRPr sz="2250" b="0">
                <a:solidFill>
                  <a:srgbClr val="17324D"/>
                </a:solidFill>
                <a:latin typeface="Arial"/>
                <a:ea typeface="Arial"/>
                <a:cs typeface="Arial"/>
              </a:defRPr>
            </a:lvl3pPr>
            <a:lvl4pPr>
              <a:defRPr sz="2250" b="0">
                <a:solidFill>
                  <a:srgbClr val="17324D"/>
                </a:solidFill>
                <a:latin typeface="Arial"/>
                <a:ea typeface="Arial"/>
                <a:cs typeface="Arial"/>
              </a:defRPr>
            </a:lvl4pPr>
            <a:lvl5pPr>
              <a:defRPr sz="2250" b="0">
                <a:solidFill>
                  <a:srgbClr val="17324D"/>
                </a:solidFill>
                <a:latin typeface="Arial"/>
                <a:ea typeface="Arial"/>
                <a:cs typeface="Arial"/>
              </a:defRPr>
            </a:lvl5pPr>
            <a:lvl6pPr>
              <a:defRPr sz="2250" b="0">
                <a:solidFill>
                  <a:srgbClr val="17324D"/>
                </a:solidFill>
                <a:latin typeface="Arial"/>
                <a:ea typeface="Arial"/>
                <a:cs typeface="Arial"/>
              </a:defRPr>
            </a:lvl6pPr>
            <a:lvl7pPr>
              <a:defRPr sz="2250" b="0">
                <a:solidFill>
                  <a:srgbClr val="17324D"/>
                </a:solidFill>
                <a:latin typeface="Arial"/>
                <a:ea typeface="Arial"/>
                <a:cs typeface="Arial"/>
              </a:defRPr>
            </a:lvl7pPr>
            <a:lvl8pPr>
              <a:defRPr sz="2250" b="0">
                <a:solidFill>
                  <a:srgbClr val="17324D"/>
                </a:solidFill>
                <a:latin typeface="Arial"/>
                <a:ea typeface="Arial"/>
                <a:cs typeface="Arial"/>
              </a:defRPr>
            </a:lvl8pPr>
            <a:lvl9pPr>
              <a:defRPr sz="2250" b="0">
                <a:solidFill>
                  <a:srgbClr val="17324D"/>
                </a:solidFill>
                <a:latin typeface="Arial"/>
                <a:ea typeface="Arial"/>
                <a:cs typeface="Arial"/>
              </a:defRPr>
            </a:lvl9pPr>
          </a:lstStyle>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The localization methods fail to beat the center control</a:t>
            </a:r>
          </a:p>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in mean error. Fisher scaling also changes alpha.</a:t>
            </a:r>
          </a:p>
        </p:txBody>
      </p:sp>
      <p:sp>
        <p:nvSpPr>
          <p:cNvPr id="7" name="">
            <a:extLst xmlns:a="http://schemas.openxmlformats.org/drawingml/2006/main">
              <a:ext uri="{FF2B5EF4-FFF2-40B4-BE49-F238E27FC236}">
                <a16:creationId xmlns:a16="http://schemas.microsoft.com/office/drawing/2014/main" id="{91C01C3A-6F3B-41AD-A41B-D12AA14DFF75}"/>
              </a:ext>
            </a:extLst>
          </p:cNvPr>
          <p:cNvSpPr>
            <a:spLocks xmlns:a="http://schemas.openxmlformats.org/drawingml/2006/main" noGrp="1"/>
          </p:cNvSpPr>
          <p:nvPr/>
        </p:nvSpPr>
        <p:spPr>
          <a:xfrm xmlns:a="http://schemas.openxmlformats.org/drawingml/2006/main">
            <a:off x="628650" y="51911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6B87"/>
                </a:solidFill>
                <a:latin typeface="Arial"/>
                <a:ea typeface="Arial"/>
                <a:cs typeface="Arial"/>
              </a:defRPr>
            </a:defPPr>
            <a:lvl1pPr>
              <a:defRPr sz="2250" b="1">
                <a:solidFill>
                  <a:srgbClr val="176B87"/>
                </a:solidFill>
                <a:latin typeface="Arial"/>
                <a:ea typeface="Arial"/>
                <a:cs typeface="Arial"/>
              </a:defRPr>
            </a:lvl1pPr>
            <a:lvl2pPr>
              <a:defRPr sz="2250" b="1">
                <a:solidFill>
                  <a:srgbClr val="176B87"/>
                </a:solidFill>
                <a:latin typeface="Arial"/>
                <a:ea typeface="Arial"/>
                <a:cs typeface="Arial"/>
              </a:defRPr>
            </a:lvl2pPr>
            <a:lvl3pPr>
              <a:defRPr sz="2250" b="1">
                <a:solidFill>
                  <a:srgbClr val="176B87"/>
                </a:solidFill>
                <a:latin typeface="Arial"/>
                <a:ea typeface="Arial"/>
                <a:cs typeface="Arial"/>
              </a:defRPr>
            </a:lvl3pPr>
            <a:lvl4pPr>
              <a:defRPr sz="2250" b="1">
                <a:solidFill>
                  <a:srgbClr val="176B87"/>
                </a:solidFill>
                <a:latin typeface="Arial"/>
                <a:ea typeface="Arial"/>
                <a:cs typeface="Arial"/>
              </a:defRPr>
            </a:lvl4pPr>
            <a:lvl5pPr>
              <a:defRPr sz="2250" b="1">
                <a:solidFill>
                  <a:srgbClr val="176B87"/>
                </a:solidFill>
                <a:latin typeface="Arial"/>
                <a:ea typeface="Arial"/>
                <a:cs typeface="Arial"/>
              </a:defRPr>
            </a:lvl5pPr>
            <a:lvl6pPr>
              <a:defRPr sz="2250" b="1">
                <a:solidFill>
                  <a:srgbClr val="176B87"/>
                </a:solidFill>
                <a:latin typeface="Arial"/>
                <a:ea typeface="Arial"/>
                <a:cs typeface="Arial"/>
              </a:defRPr>
            </a:lvl6pPr>
            <a:lvl7pPr>
              <a:defRPr sz="2250" b="1">
                <a:solidFill>
                  <a:srgbClr val="176B87"/>
                </a:solidFill>
                <a:latin typeface="Arial"/>
                <a:ea typeface="Arial"/>
                <a:cs typeface="Arial"/>
              </a:defRPr>
            </a:lvl7pPr>
            <a:lvl8pPr>
              <a:defRPr sz="2250" b="1">
                <a:solidFill>
                  <a:srgbClr val="176B87"/>
                </a:solidFill>
                <a:latin typeface="Arial"/>
                <a:ea typeface="Arial"/>
                <a:cs typeface="Arial"/>
              </a:defRPr>
            </a:lvl8pPr>
            <a:lvl9pPr>
              <a:defRPr sz="2250" b="1">
                <a:solidFill>
                  <a:srgbClr val="176B87"/>
                </a:solidFill>
                <a:latin typeface="Arial"/>
                <a:ea typeface="Arial"/>
                <a:cs typeface="Arial"/>
              </a:defRPr>
            </a:lvl9pPr>
          </a:lstStyle>
          <a:p xmlns:a="http://schemas.openxmlformats.org/drawingml/2006/main">
            <a:pPr>
              <a:defRPr sz="2250" b="1">
                <a:solidFill>
                  <a:srgbClr val="176B87"/>
                </a:solidFill>
                <a:latin typeface="Arial"/>
                <a:ea typeface="Arial"/>
                <a:cs typeface="Arial"/>
              </a:defRPr>
            </a:pPr>
            <a:r>
              <a:rPr sz="2250" b="1">
                <a:solidFill>
                  <a:srgbClr val="176B87"/>
                </a:solidFill>
                <a:latin typeface="Arial"/>
                <a:ea typeface="Arial"/>
                <a:cs typeface="Arial"/>
              </a:rPr>
              <a:t>Next step: tune and test the reconstruction before</a:t>
            </a:r>
          </a:p>
          <a:p xmlns:a="http://schemas.openxmlformats.org/drawingml/2006/main">
            <a:pPr>
              <a:defRPr sz="2250" b="1">
                <a:solidFill>
                  <a:srgbClr val="176B87"/>
                </a:solidFill>
                <a:latin typeface="Arial"/>
                <a:ea typeface="Arial"/>
                <a:cs typeface="Arial"/>
              </a:defRPr>
            </a:pPr>
            <a:r>
              <a:rPr sz="2250" b="1">
                <a:solidFill>
                  <a:srgbClr val="176B87"/>
                </a:solidFill>
                <a:latin typeface="Arial"/>
                <a:ea typeface="Arial"/>
                <a:cs typeface="Arial"/>
              </a:rPr>
              <a:t>expanding the physical application.</a:t>
            </a:r>
          </a:p>
        </p:txBody>
      </p:sp>
    </p:spTree>
    <p:extLst>
      <p:ext uri="{BB962C8B-B14F-4D97-AF65-F5344CB8AC3E}">
        <p14:creationId xmlns:p14="http://schemas.microsoft.com/office/powerpoint/2010/main" val="1370468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2026-10-24T04:12:10.9450000Z</dcterms:created>
  <dcterms:modified xsi:type="dcterms:W3CDTF">2026-10-24T04:12:10.9450000Z</dcterms:modified>
</coreProperties>
</file>